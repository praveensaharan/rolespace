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72" r:id="rId28"/>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 Id="rId2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rolespace.duckdns.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a:solidFill>
                  <a:srgbClr val="111111"/>
                </a:solidFill>
                <a:latin typeface="Google Sans Flex"/>
              </a:rPr>
              <a:t>RoleSpace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a:solidFill>
                  <a:srgbClr val="111111"/>
                </a:solidFill>
                <a:latin typeface="Google Sans Flex"/>
              </a:rPr>
              <a:t>Praveen Saharan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400">
                <a:solidFill>
                  <a:srgbClr val="111111"/>
                </a:solidFill>
                <a:latin typeface="Google Sans Flex SemiBold"/>
              </a:rPr>
              <a:t>Future of Work &amp; Enterprise Productivity. </a:t>
            </a:r>
            <a:r>
              <a:rPr sz="1400">
                <a:solidFill>
                  <a:srgbClr val="374151"/>
                </a:solidFill>
                <a:latin typeface="Google Sans Flex"/>
              </a:rPr>
              <a:t>Every role in a software company needs a different amount of AI. Today developers get coding agents, everyone else gets nothing, and nobody sees the cost or the risk.</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Pitch"/>
          <p:cNvSpPr txBox="1"/>
          <p:nvPr/>
        </p:nvSpPr>
        <p:spPr>
          <a:xfrm>
            <a:off x="365760" y="1207008"/>
            <a:ext cx="8412480" cy="914400"/>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RoleSpace gives every person in a software company the right amount of AI for their job, and keeps the company in control. </a:t>
            </a:r>
            <a:r>
              <a:rPr sz="1250">
                <a:solidFill>
                  <a:srgbClr val="374151"/>
                </a:solidFill>
                <a:latin typeface="Google Sans Flex"/>
              </a:rPr>
              <a:t>One policy file (role.yaml) gives each person a level. The level decides which AI tools they get, which files they may change, which models they may call and how much they may spend. It is enforced in code, at the model gateway, in CI and in IAM, not by the prompt.</a:t>
            </a:r>
          </a:p>
        </p:txBody>
      </p:sp>
      <p:sp>
        <p:nvSpPr>
          <p:cNvPr id="73" name="Ask level card"/>
          <p:cNvSpPr/>
          <p:nvPr/>
        </p:nvSpPr>
        <p:spPr>
          <a:xfrm>
            <a:off x="365760" y="2286000"/>
            <a:ext cx="1965960" cy="1965960"/>
          </a:xfrm>
          <a:prstGeom prst="roundRect">
            <a:avLst>
              <a:gd name="adj" fmla="val 2790"/>
            </a:avLst>
          </a:prstGeom>
          <a:solidFill>
            <a:srgbClr val="F5F5F5"/>
          </a:solidFill>
          <a:ln>
            <a:noFill/>
          </a:ln>
        </p:spPr>
        <p:txBody>
          <a:bodyPr rtlCol="0" anchor="ctr"/>
          <a:lstStyle/>
          <a:p/>
        </p:txBody>
      </p:sp>
      <p:sp>
        <p:nvSpPr>
          <p:cNvPr id="74" name="Ask badge"/>
          <p:cNvSpPr/>
          <p:nvPr/>
        </p:nvSpPr>
        <p:spPr>
          <a:xfrm>
            <a:off x="548640" y="2468880"/>
            <a:ext cx="516635" cy="219456"/>
          </a:xfrm>
          <a:prstGeom prst="roundRect">
            <a:avLst>
              <a:gd name="adj" fmla="val 50000"/>
            </a:avLst>
          </a:prstGeom>
          <a:solidFill>
            <a:srgbClr val="E6FAF2"/>
          </a:solidFill>
          <a:ln>
            <a:noFill/>
          </a:ln>
        </p:spPr>
        <p:txBody>
          <a:bodyPr rtlCol="0" anchor="ctr"/>
          <a:lstStyle/>
          <a:p/>
        </p:txBody>
      </p:sp>
      <p:sp>
        <p:nvSpPr>
          <p:cNvPr id="75" name="Oval 74"/>
          <p:cNvSpPr/>
          <p:nvPr/>
        </p:nvSpPr>
        <p:spPr>
          <a:xfrm>
            <a:off x="630936" y="2546604"/>
            <a:ext cx="64008" cy="64008"/>
          </a:xfrm>
          <a:prstGeom prst="ellipse">
            <a:avLst/>
          </a:prstGeom>
          <a:solidFill>
            <a:srgbClr val="34D399"/>
          </a:solidFill>
          <a:ln>
            <a:noFill/>
          </a:ln>
        </p:spPr>
        <p:txBody>
          <a:bodyPr rtlCol="0" anchor="ctr"/>
          <a:lstStyle/>
          <a:p>
            <a:pPr algn="ctr"/>
          </a:p>
        </p:txBody>
      </p:sp>
      <p:sp>
        <p:nvSpPr>
          <p:cNvPr id="76" name="TextBox 75"/>
          <p:cNvSpPr txBox="1"/>
          <p:nvPr/>
        </p:nvSpPr>
        <p:spPr>
          <a:xfrm>
            <a:off x="731520" y="2500884"/>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77" name="TextBox 76"/>
          <p:cNvSpPr txBox="1"/>
          <p:nvPr/>
        </p:nvSpPr>
        <p:spPr>
          <a:xfrm>
            <a:off x="54864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Maya · Product manager</a:t>
            </a:r>
          </a:p>
        </p:txBody>
      </p:sp>
      <p:sp>
        <p:nvSpPr>
          <p:cNvPr id="78" name="TextBox 77"/>
          <p:cNvSpPr txBox="1"/>
          <p:nvPr/>
        </p:nvSpPr>
        <p:spPr>
          <a:xfrm>
            <a:off x="54864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Questions about the code, answered with line citations that code checks. No writes.</a:t>
            </a:r>
          </a:p>
        </p:txBody>
      </p:sp>
      <p:sp>
        <p:nvSpPr>
          <p:cNvPr id="79" name="Suggest level card"/>
          <p:cNvSpPr/>
          <p:nvPr/>
        </p:nvSpPr>
        <p:spPr>
          <a:xfrm>
            <a:off x="2514600" y="2286000"/>
            <a:ext cx="1965960" cy="1965960"/>
          </a:xfrm>
          <a:prstGeom prst="roundRect">
            <a:avLst>
              <a:gd name="adj" fmla="val 2790"/>
            </a:avLst>
          </a:prstGeom>
          <a:solidFill>
            <a:srgbClr val="F5F5F5"/>
          </a:solidFill>
          <a:ln>
            <a:noFill/>
          </a:ln>
        </p:spPr>
        <p:txBody>
          <a:bodyPr rtlCol="0" anchor="ctr"/>
          <a:lstStyle/>
          <a:p/>
        </p:txBody>
      </p:sp>
      <p:sp>
        <p:nvSpPr>
          <p:cNvPr id="80" name="Suggest badge"/>
          <p:cNvSpPr/>
          <p:nvPr/>
        </p:nvSpPr>
        <p:spPr>
          <a:xfrm>
            <a:off x="2697480" y="2468880"/>
            <a:ext cx="790956" cy="219456"/>
          </a:xfrm>
          <a:prstGeom prst="roundRect">
            <a:avLst>
              <a:gd name="adj" fmla="val 50000"/>
            </a:avLst>
          </a:prstGeom>
          <a:solidFill>
            <a:srgbClr val="F1ECFE"/>
          </a:solidFill>
          <a:ln>
            <a:noFill/>
          </a:ln>
        </p:spPr>
        <p:txBody>
          <a:bodyPr rtlCol="0" anchor="ctr"/>
          <a:lstStyle/>
          <a:p/>
        </p:txBody>
      </p:sp>
      <p:sp>
        <p:nvSpPr>
          <p:cNvPr id="81" name="Oval 80"/>
          <p:cNvSpPr/>
          <p:nvPr/>
        </p:nvSpPr>
        <p:spPr>
          <a:xfrm>
            <a:off x="2779776" y="2546604"/>
            <a:ext cx="64008" cy="64008"/>
          </a:xfrm>
          <a:prstGeom prst="ellipse">
            <a:avLst/>
          </a:prstGeom>
          <a:solidFill>
            <a:srgbClr val="8B5CF6"/>
          </a:solidFill>
          <a:ln>
            <a:noFill/>
          </a:ln>
        </p:spPr>
        <p:txBody>
          <a:bodyPr rtlCol="0" anchor="ctr"/>
          <a:lstStyle/>
          <a:p>
            <a:pPr algn="ctr"/>
          </a:p>
        </p:txBody>
      </p:sp>
      <p:sp>
        <p:nvSpPr>
          <p:cNvPr id="82" name="TextBox 81"/>
          <p:cNvSpPr txBox="1"/>
          <p:nvPr/>
        </p:nvSpPr>
        <p:spPr>
          <a:xfrm>
            <a:off x="2880360" y="2500884"/>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83" name="TextBox 82"/>
          <p:cNvSpPr txBox="1"/>
          <p:nvPr/>
        </p:nvSpPr>
        <p:spPr>
          <a:xfrm>
            <a:off x="269748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Leo · Product designer</a:t>
            </a:r>
          </a:p>
        </p:txBody>
      </p:sp>
      <p:sp>
        <p:nvSpPr>
          <p:cNvPr id="84" name="TextBox 83"/>
          <p:cNvSpPr txBox="1"/>
          <p:nvPr/>
        </p:nvSpPr>
        <p:spPr>
          <a:xfrm>
            <a:off x="269748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Small edits inside a path allow-list, delivered only as a pull request a human merges.</a:t>
            </a:r>
          </a:p>
        </p:txBody>
      </p:sp>
      <p:sp>
        <p:nvSpPr>
          <p:cNvPr id="85" name="Build level card"/>
          <p:cNvSpPr/>
          <p:nvPr/>
        </p:nvSpPr>
        <p:spPr>
          <a:xfrm>
            <a:off x="4663440" y="2286000"/>
            <a:ext cx="1965960" cy="1965960"/>
          </a:xfrm>
          <a:prstGeom prst="roundRect">
            <a:avLst>
              <a:gd name="adj" fmla="val 2790"/>
            </a:avLst>
          </a:prstGeom>
          <a:solidFill>
            <a:srgbClr val="F5F5F5"/>
          </a:solidFill>
          <a:ln>
            <a:noFill/>
          </a:ln>
        </p:spPr>
        <p:txBody>
          <a:bodyPr rtlCol="0" anchor="ctr"/>
          <a:lstStyle/>
          <a:p/>
        </p:txBody>
      </p:sp>
      <p:sp>
        <p:nvSpPr>
          <p:cNvPr id="86" name="Build badge"/>
          <p:cNvSpPr/>
          <p:nvPr/>
        </p:nvSpPr>
        <p:spPr>
          <a:xfrm>
            <a:off x="4846320" y="2468880"/>
            <a:ext cx="653796" cy="219456"/>
          </a:xfrm>
          <a:prstGeom prst="roundRect">
            <a:avLst>
              <a:gd name="adj" fmla="val 50000"/>
            </a:avLst>
          </a:prstGeom>
          <a:solidFill>
            <a:srgbClr val="FFF1E6"/>
          </a:solidFill>
          <a:ln>
            <a:noFill/>
          </a:ln>
        </p:spPr>
        <p:txBody>
          <a:bodyPr rtlCol="0" anchor="ctr"/>
          <a:lstStyle/>
          <a:p/>
        </p:txBody>
      </p:sp>
      <p:sp>
        <p:nvSpPr>
          <p:cNvPr id="87" name="Oval 86"/>
          <p:cNvSpPr/>
          <p:nvPr/>
        </p:nvSpPr>
        <p:spPr>
          <a:xfrm>
            <a:off x="4928616" y="2546604"/>
            <a:ext cx="64008" cy="64008"/>
          </a:xfrm>
          <a:prstGeom prst="ellipse">
            <a:avLst/>
          </a:prstGeom>
          <a:solidFill>
            <a:srgbClr val="FB923C"/>
          </a:solidFill>
          <a:ln>
            <a:noFill/>
          </a:ln>
        </p:spPr>
        <p:txBody>
          <a:bodyPr rtlCol="0" anchor="ctr"/>
          <a:lstStyle/>
          <a:p>
            <a:pPr algn="ctr"/>
          </a:p>
        </p:txBody>
      </p:sp>
      <p:sp>
        <p:nvSpPr>
          <p:cNvPr id="88" name="TextBox 87"/>
          <p:cNvSpPr txBox="1"/>
          <p:nvPr/>
        </p:nvSpPr>
        <p:spPr>
          <a:xfrm>
            <a:off x="5029200" y="2500884"/>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89" name="TextBox 88"/>
          <p:cNvSpPr txBox="1"/>
          <p:nvPr/>
        </p:nvSpPr>
        <p:spPr>
          <a:xfrm>
            <a:off x="484632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Sam · Developer</a:t>
            </a:r>
          </a:p>
        </p:txBody>
      </p:sp>
      <p:sp>
        <p:nvSpPr>
          <p:cNvPr id="90" name="TextBox 89"/>
          <p:cNvSpPr txBox="1"/>
          <p:nvPr/>
        </p:nvSpPr>
        <p:spPr>
          <a:xfrm>
            <a:off x="484632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A private Coder workspace with Gemini CLI on his own key. No VPN, no public IP.</a:t>
            </a:r>
          </a:p>
        </p:txBody>
      </p:sp>
      <p:sp>
        <p:nvSpPr>
          <p:cNvPr id="91" name="Govern level card"/>
          <p:cNvSpPr/>
          <p:nvPr/>
        </p:nvSpPr>
        <p:spPr>
          <a:xfrm>
            <a:off x="6812280" y="2286000"/>
            <a:ext cx="1965960" cy="1965960"/>
          </a:xfrm>
          <a:prstGeom prst="roundRect">
            <a:avLst>
              <a:gd name="adj" fmla="val 2790"/>
            </a:avLst>
          </a:prstGeom>
          <a:solidFill>
            <a:srgbClr val="F5F5F5"/>
          </a:solidFill>
          <a:ln>
            <a:noFill/>
          </a:ln>
        </p:spPr>
        <p:txBody>
          <a:bodyPr rtlCol="0" anchor="ctr"/>
          <a:lstStyle/>
          <a:p/>
        </p:txBody>
      </p:sp>
      <p:sp>
        <p:nvSpPr>
          <p:cNvPr id="92" name="Govern badge"/>
          <p:cNvSpPr/>
          <p:nvPr/>
        </p:nvSpPr>
        <p:spPr>
          <a:xfrm>
            <a:off x="6995160" y="2468880"/>
            <a:ext cx="722376" cy="219456"/>
          </a:xfrm>
          <a:prstGeom prst="roundRect">
            <a:avLst>
              <a:gd name="adj" fmla="val 50000"/>
            </a:avLst>
          </a:prstGeom>
          <a:solidFill>
            <a:srgbClr val="EBF2FE"/>
          </a:solidFill>
          <a:ln>
            <a:noFill/>
          </a:ln>
        </p:spPr>
        <p:txBody>
          <a:bodyPr rtlCol="0" anchor="ctr"/>
          <a:lstStyle/>
          <a:p/>
        </p:txBody>
      </p:sp>
      <p:sp>
        <p:nvSpPr>
          <p:cNvPr id="93" name="Oval 92"/>
          <p:cNvSpPr/>
          <p:nvPr/>
        </p:nvSpPr>
        <p:spPr>
          <a:xfrm>
            <a:off x="7077456" y="2546604"/>
            <a:ext cx="64008" cy="64008"/>
          </a:xfrm>
          <a:prstGeom prst="ellipse">
            <a:avLst/>
          </a:prstGeom>
          <a:solidFill>
            <a:srgbClr val="3B82F6"/>
          </a:solidFill>
          <a:ln>
            <a:noFill/>
          </a:ln>
        </p:spPr>
        <p:txBody>
          <a:bodyPr rtlCol="0" anchor="ctr"/>
          <a:lstStyle/>
          <a:p>
            <a:pPr algn="ctr"/>
          </a:p>
        </p:txBody>
      </p:sp>
      <p:sp>
        <p:nvSpPr>
          <p:cNvPr id="94" name="TextBox 93"/>
          <p:cNvSpPr txBox="1"/>
          <p:nvPr/>
        </p:nvSpPr>
        <p:spPr>
          <a:xfrm>
            <a:off x="7178040" y="250088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95" name="TextBox 94"/>
          <p:cNvSpPr txBox="1"/>
          <p:nvPr/>
        </p:nvSpPr>
        <p:spPr>
          <a:xfrm>
            <a:off x="699516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Ava · Platform admin</a:t>
            </a:r>
          </a:p>
        </p:txBody>
      </p:sp>
      <p:sp>
        <p:nvSpPr>
          <p:cNvPr id="96" name="TextBox 95"/>
          <p:cNvSpPr txBox="1"/>
          <p:nvPr/>
        </p:nvSpPr>
        <p:spPr>
          <a:xfrm>
            <a:off x="699516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Levels, budgets, approvals, a kill switch, spend and a tamper-evident audit log.</a:t>
            </a:r>
          </a:p>
        </p:txBody>
      </p:sp>
      <p:sp>
        <p:nvSpPr>
          <p:cNvPr id="97" name="TextBox 96"/>
          <p:cNvSpPr txBox="1"/>
          <p:nvPr/>
        </p:nvSpPr>
        <p:spPr>
          <a:xfrm>
            <a:off x="365760" y="4462272"/>
            <a:ext cx="8412480" cy="365760"/>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Built on Google Cloud: </a:t>
            </a:r>
            <a:r>
              <a:rPr sz="1100">
                <a:solidFill>
                  <a:srgbClr val="6B7280"/>
                </a:solidFill>
                <a:latin typeface="Google Sans Flex"/>
              </a:rPr>
              <a:t>Gemini on Vertex AI · Agent Development Kit · Cloud Run · Identity-Aware Proxy · Cloud SQL · Firestore · Secret Manager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What's different card"/>
          <p:cNvSpPr/>
          <p:nvPr/>
        </p:nvSpPr>
        <p:spPr>
          <a:xfrm>
            <a:off x="365760" y="1207008"/>
            <a:ext cx="2679192" cy="3712463"/>
          </a:xfrm>
          <a:prstGeom prst="roundRect">
            <a:avLst>
              <a:gd name="adj" fmla="val 2047"/>
            </a:avLst>
          </a:prstGeom>
          <a:solidFill>
            <a:srgbClr val="F5F5F5"/>
          </a:solidFill>
          <a:ln>
            <a:noFill/>
          </a:ln>
        </p:spPr>
        <p:txBody>
          <a:bodyPr rtlCol="0" anchor="ctr"/>
          <a:lstStyle/>
          <a:p/>
        </p:txBody>
      </p:sp>
      <p:sp>
        <p:nvSpPr>
          <p:cNvPr id="81" name="Oval 80"/>
          <p:cNvSpPr/>
          <p:nvPr/>
        </p:nvSpPr>
        <p:spPr>
          <a:xfrm>
            <a:off x="548640" y="1389888"/>
            <a:ext cx="274320" cy="274320"/>
          </a:xfrm>
          <a:prstGeom prst="ellipse">
            <a:avLst/>
          </a:prstGeom>
          <a:solidFill>
            <a:srgbClr val="111111"/>
          </a:solidFill>
          <a:ln>
            <a:noFill/>
          </a:ln>
        </p:spPr>
        <p:txBody>
          <a:bodyPr rtlCol="0" anchor="ctr"/>
          <a:lstStyle/>
          <a:p>
            <a:pPr algn="ctr"/>
          </a:p>
        </p:txBody>
      </p:sp>
      <p:sp>
        <p:nvSpPr>
          <p:cNvPr id="82" name="TextBox 81"/>
          <p:cNvSpPr txBox="1"/>
          <p:nvPr/>
        </p:nvSpPr>
        <p:spPr>
          <a:xfrm>
            <a:off x="548640"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1</a:t>
            </a:r>
          </a:p>
        </p:txBody>
      </p:sp>
      <p:sp>
        <p:nvSpPr>
          <p:cNvPr id="83" name="TextBox 82"/>
          <p:cNvSpPr txBox="1"/>
          <p:nvPr/>
        </p:nvSpPr>
        <p:spPr>
          <a:xfrm>
            <a:off x="914400"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What's different</a:t>
            </a:r>
          </a:p>
        </p:txBody>
      </p:sp>
      <p:sp>
        <p:nvSpPr>
          <p:cNvPr id="84" name="TextBox 83"/>
          <p:cNvSpPr txBox="1"/>
          <p:nvPr/>
        </p:nvSpPr>
        <p:spPr>
          <a:xfrm>
            <a:off x="548640" y="1865376"/>
            <a:ext cx="2313432" cy="2935223"/>
          </a:xfrm>
          <a:prstGeom prst="rect">
            <a:avLst/>
          </a:prstGeom>
          <a:noFill/>
        </p:spPr>
        <p:txBody>
          <a:bodyPr wrap="square" lIns="0" rIns="0" tIns="0" bIns="0" anchor="t">
            <a:spAutoFit/>
          </a:bodyPr>
          <a:lstStyle/>
          <a:p>
            <a:pPr algn="l" marL="146304" indent="-146304">
              <a:spcAft>
                <a:spcPts val="700"/>
              </a:spcAft>
              <a:buChar char="•"/>
            </a:pPr>
            <a:r>
              <a:rPr sz="1200">
                <a:solidFill>
                  <a:srgbClr val="374151"/>
                </a:solidFill>
                <a:latin typeface="Google Sans Flex"/>
              </a:rPr>
              <a:t/>
            </a:r>
            <a:r>
              <a:rPr sz="1200">
                <a:solidFill>
                  <a:srgbClr val="374151"/>
                </a:solidFill>
                <a:latin typeface="Google Sans Flex"/>
              </a:rPr>
              <a:t>Coding assistants license seats for developers only.</a:t>
            </a:r>
          </a:p>
          <a:p>
            <a:pPr marL="146304" indent="-146304">
              <a:spcAft>
                <a:spcPts val="700"/>
              </a:spcAft>
              <a:buChar char="•"/>
            </a:pPr>
            <a:r>
              <a:rPr sz="1200">
                <a:solidFill>
                  <a:srgbClr val="374151"/>
                </a:solidFill>
                <a:latin typeface="Google Sans Flex"/>
              </a:rPr>
              <a:t>AI gateways cap keys but don't know people's jobs, the code or outcomes.</a:t>
            </a:r>
          </a:p>
          <a:p>
            <a:pPr marL="146304" indent="-146304">
              <a:spcAft>
                <a:spcPts val="700"/>
              </a:spcAft>
              <a:buChar char="•"/>
            </a:pPr>
            <a:r>
              <a:rPr sz="1200">
                <a:solidFill>
                  <a:srgbClr val="374151"/>
                </a:solidFill>
                <a:latin typeface="Google Sans Flex"/>
              </a:rPr>
              <a:t>Agent governance (Agent Gateway) controls agents, not which person gets which level of AI.</a:t>
            </a:r>
          </a:p>
          <a:p>
            <a:pPr marL="146304" indent="-146304">
              <a:spcAft>
                <a:spcPts val="700"/>
              </a:spcAft>
              <a:buChar char="•"/>
            </a:pPr>
            <a:r>
              <a:rPr sz="1200">
                <a:solidFill>
                  <a:srgbClr val="374151"/>
                </a:solidFill>
                <a:latin typeface="Google Sans Flex"/>
              </a:rPr>
              <a:t>RoleSpace ties one policy to each person's job, across questions, edits, workspaces and spend.</a:t>
            </a:r>
          </a:p>
        </p:txBody>
      </p:sp>
      <p:sp>
        <p:nvSpPr>
          <p:cNvPr id="85" name="How it solves it card"/>
          <p:cNvSpPr/>
          <p:nvPr/>
        </p:nvSpPr>
        <p:spPr>
          <a:xfrm>
            <a:off x="3227832" y="1207008"/>
            <a:ext cx="2679192" cy="3712463"/>
          </a:xfrm>
          <a:prstGeom prst="roundRect">
            <a:avLst>
              <a:gd name="adj" fmla="val 2047"/>
            </a:avLst>
          </a:prstGeom>
          <a:solidFill>
            <a:srgbClr val="F5F5F5"/>
          </a:solidFill>
          <a:ln>
            <a:noFill/>
          </a:ln>
        </p:spPr>
        <p:txBody>
          <a:bodyPr rtlCol="0" anchor="ctr"/>
          <a:lstStyle/>
          <a:p/>
        </p:txBody>
      </p:sp>
      <p:sp>
        <p:nvSpPr>
          <p:cNvPr id="86" name="Oval 85"/>
          <p:cNvSpPr/>
          <p:nvPr/>
        </p:nvSpPr>
        <p:spPr>
          <a:xfrm>
            <a:off x="3410712" y="1389888"/>
            <a:ext cx="274320" cy="274320"/>
          </a:xfrm>
          <a:prstGeom prst="ellipse">
            <a:avLst/>
          </a:prstGeom>
          <a:solidFill>
            <a:srgbClr val="111111"/>
          </a:solidFill>
          <a:ln>
            <a:noFill/>
          </a:ln>
        </p:spPr>
        <p:txBody>
          <a:bodyPr rtlCol="0" anchor="ctr"/>
          <a:lstStyle/>
          <a:p>
            <a:pPr algn="ctr"/>
          </a:p>
        </p:txBody>
      </p:sp>
      <p:sp>
        <p:nvSpPr>
          <p:cNvPr id="87" name="TextBox 86"/>
          <p:cNvSpPr txBox="1"/>
          <p:nvPr/>
        </p:nvSpPr>
        <p:spPr>
          <a:xfrm>
            <a:off x="3410712"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2</a:t>
            </a:r>
          </a:p>
        </p:txBody>
      </p:sp>
      <p:sp>
        <p:nvSpPr>
          <p:cNvPr id="88" name="TextBox 87"/>
          <p:cNvSpPr txBox="1"/>
          <p:nvPr/>
        </p:nvSpPr>
        <p:spPr>
          <a:xfrm>
            <a:off x="3776472"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How it solves it</a:t>
            </a:r>
          </a:p>
        </p:txBody>
      </p:sp>
      <p:sp>
        <p:nvSpPr>
          <p:cNvPr id="89" name="TextBox 88"/>
          <p:cNvSpPr txBox="1"/>
          <p:nvPr/>
        </p:nvSpPr>
        <p:spPr>
          <a:xfrm>
            <a:off x="3410712" y="1865376"/>
            <a:ext cx="2313432" cy="2935223"/>
          </a:xfrm>
          <a:prstGeom prst="rect">
            <a:avLst/>
          </a:prstGeom>
          <a:noFill/>
        </p:spPr>
        <p:txBody>
          <a:bodyPr wrap="square" lIns="0" rIns="0" tIns="0" bIns="0" anchor="t">
            <a:spAutoFit/>
          </a:bodyPr>
          <a:lstStyle/>
          <a:p>
            <a:pPr algn="l" marL="146304" indent="-146304">
              <a:spcAft>
                <a:spcPts val="700"/>
              </a:spcAft>
              <a:buChar char="•"/>
            </a:pPr>
            <a:r>
              <a:rPr sz="1200">
                <a:solidFill>
                  <a:srgbClr val="374151"/>
                </a:solidFill>
                <a:latin typeface="Google Sans Flex"/>
              </a:rPr>
              <a:t/>
            </a:r>
            <a:r>
              <a:rPr sz="1200">
                <a:solidFill>
                  <a:srgbClr val="374151"/>
                </a:solidFill>
                <a:latin typeface="Google Sans Flex"/>
              </a:rPr>
              <a:t>PMs get answers from the code without interrupting developers, with every citation checked.</a:t>
            </a:r>
          </a:p>
          <a:p>
            <a:pPr marL="146304" indent="-146304">
              <a:spcAft>
                <a:spcPts val="700"/>
              </a:spcAft>
              <a:buChar char="•"/>
            </a:pPr>
            <a:r>
              <a:rPr sz="1200">
                <a:solidFill>
                  <a:srgbClr val="374151"/>
                </a:solidFill>
                <a:latin typeface="Google Sans Flex"/>
              </a:rPr>
              <a:t>Designers ship small UI fixes as pull requests, inside an allow-list, with CI and a human review.</a:t>
            </a:r>
          </a:p>
          <a:p>
            <a:pPr marL="146304" indent="-146304">
              <a:spcAft>
                <a:spcPts val="700"/>
              </a:spcAft>
              <a:buChar char="•"/>
            </a:pPr>
            <a:r>
              <a:rPr sz="1200">
                <a:solidFill>
                  <a:srgbClr val="374151"/>
                </a:solidFill>
                <a:latin typeface="Google Sans Flex"/>
              </a:rPr>
              <a:t>Developers get a private workspace with AI on day one.</a:t>
            </a:r>
          </a:p>
          <a:p>
            <a:pPr marL="146304" indent="-146304">
              <a:spcAft>
                <a:spcPts val="700"/>
              </a:spcAft>
              <a:buChar char="•"/>
            </a:pPr>
            <a:r>
              <a:rPr sz="1200">
                <a:solidFill>
                  <a:srgbClr val="374151"/>
                </a:solidFill>
                <a:latin typeface="Google Sans Flex"/>
              </a:rPr>
              <a:t>Admins see and cap spend per person; every refusal, denial and approval is logged.</a:t>
            </a:r>
          </a:p>
        </p:txBody>
      </p:sp>
      <p:sp>
        <p:nvSpPr>
          <p:cNvPr id="90" name="USP card"/>
          <p:cNvSpPr/>
          <p:nvPr/>
        </p:nvSpPr>
        <p:spPr>
          <a:xfrm>
            <a:off x="6089904" y="1207008"/>
            <a:ext cx="2679192" cy="3712463"/>
          </a:xfrm>
          <a:prstGeom prst="roundRect">
            <a:avLst>
              <a:gd name="adj" fmla="val 2047"/>
            </a:avLst>
          </a:prstGeom>
          <a:solidFill>
            <a:srgbClr val="F5F5F5"/>
          </a:solidFill>
          <a:ln>
            <a:noFill/>
          </a:ln>
        </p:spPr>
        <p:txBody>
          <a:bodyPr rtlCol="0" anchor="ctr"/>
          <a:lstStyle/>
          <a:p/>
        </p:txBody>
      </p:sp>
      <p:sp>
        <p:nvSpPr>
          <p:cNvPr id="91" name="Oval 90"/>
          <p:cNvSpPr/>
          <p:nvPr/>
        </p:nvSpPr>
        <p:spPr>
          <a:xfrm>
            <a:off x="6272784" y="1389888"/>
            <a:ext cx="274320" cy="274320"/>
          </a:xfrm>
          <a:prstGeom prst="ellipse">
            <a:avLst/>
          </a:prstGeom>
          <a:solidFill>
            <a:srgbClr val="111111"/>
          </a:solidFill>
          <a:ln>
            <a:noFill/>
          </a:ln>
        </p:spPr>
        <p:txBody>
          <a:bodyPr rtlCol="0" anchor="ctr"/>
          <a:lstStyle/>
          <a:p>
            <a:pPr algn="ctr"/>
          </a:p>
        </p:txBody>
      </p:sp>
      <p:sp>
        <p:nvSpPr>
          <p:cNvPr id="92" name="TextBox 91"/>
          <p:cNvSpPr txBox="1"/>
          <p:nvPr/>
        </p:nvSpPr>
        <p:spPr>
          <a:xfrm>
            <a:off x="6272784"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3</a:t>
            </a:r>
          </a:p>
        </p:txBody>
      </p:sp>
      <p:sp>
        <p:nvSpPr>
          <p:cNvPr id="93" name="TextBox 92"/>
          <p:cNvSpPr txBox="1"/>
          <p:nvPr/>
        </p:nvSpPr>
        <p:spPr>
          <a:xfrm>
            <a:off x="6638544"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USP</a:t>
            </a:r>
          </a:p>
        </p:txBody>
      </p:sp>
      <p:sp>
        <p:nvSpPr>
          <p:cNvPr id="94" name="TextBox 93"/>
          <p:cNvSpPr txBox="1"/>
          <p:nvPr/>
        </p:nvSpPr>
        <p:spPr>
          <a:xfrm>
            <a:off x="6272784" y="1865376"/>
            <a:ext cx="2313432" cy="2935223"/>
          </a:xfrm>
          <a:prstGeom prst="rect">
            <a:avLst/>
          </a:prstGeom>
          <a:noFill/>
        </p:spPr>
        <p:txBody>
          <a:bodyPr wrap="square" lIns="0" rIns="0" tIns="0" bIns="0" anchor="t">
            <a:spAutoFit/>
          </a:bodyPr>
          <a:lstStyle/>
          <a:p>
            <a:pPr algn="l" marL="146304" indent="-146304">
              <a:spcAft>
                <a:spcPts val="700"/>
              </a:spcAft>
              <a:buChar char="•"/>
            </a:pPr>
            <a:r>
              <a:rPr sz="1200">
                <a:solidFill>
                  <a:srgbClr val="374151"/>
                </a:solidFill>
                <a:latin typeface="Google Sans Flex"/>
              </a:rPr>
              <a:t/>
            </a:r>
            <a:r>
              <a:rPr sz="1200">
                <a:solidFill>
                  <a:srgbClr val="374151"/>
                </a:solidFill>
                <a:latin typeface="Google Sans Flex"/>
              </a:rPr>
              <a:t>One policy file, enforced in four independent places.</a:t>
            </a:r>
          </a:p>
          <a:p>
            <a:pPr marL="146304" indent="-146304">
              <a:spcAft>
                <a:spcPts val="700"/>
              </a:spcAft>
              <a:buChar char="•"/>
            </a:pPr>
            <a:r>
              <a:rPr sz="1200">
                <a:solidFill>
                  <a:srgbClr val="374151"/>
                </a:solidFill>
                <a:latin typeface="Google Sans Flex"/>
              </a:rPr>
              <a:t>Every decision explains itself: the checks in order, the rule that decided, the policy version.</a:t>
            </a:r>
          </a:p>
          <a:p>
            <a:pPr marL="146304" indent="-146304">
              <a:spcAft>
                <a:spcPts val="700"/>
              </a:spcAft>
              <a:buChar char="•"/>
            </a:pPr>
            <a:r>
              <a:rPr sz="1200">
                <a:solidFill>
                  <a:srgbClr val="374151"/>
                </a:solidFill>
                <a:latin typeface="Google Sans Flex"/>
              </a:rPr>
              <a:t>A refusal becomes a request to the owning team, not a dead end.</a:t>
            </a:r>
          </a:p>
          <a:p>
            <a:pPr marL="146304" indent="-146304">
              <a:spcAft>
                <a:spcPts val="700"/>
              </a:spcAft>
              <a:buChar char="•"/>
            </a:pPr>
            <a:r>
              <a:rPr sz="1200">
                <a:solidFill>
                  <a:srgbClr val="374151"/>
                </a:solidFill>
                <a:latin typeface="Google Sans Flex"/>
              </a:rPr>
              <a:t>Higher access is temporary by default: approved, logged, and gone by itself.</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Verified answers card"/>
          <p:cNvSpPr/>
          <p:nvPr/>
        </p:nvSpPr>
        <p:spPr>
          <a:xfrm>
            <a:off x="365760" y="1207008"/>
            <a:ext cx="2679192" cy="1060704"/>
          </a:xfrm>
          <a:prstGeom prst="roundRect">
            <a:avLst>
              <a:gd name="adj" fmla="val 5172"/>
            </a:avLst>
          </a:prstGeom>
          <a:solidFill>
            <a:srgbClr val="F5F5F5"/>
          </a:solidFill>
          <a:ln>
            <a:noFill/>
          </a:ln>
        </p:spPr>
        <p:txBody>
          <a:bodyPr rtlCol="0" anchor="ctr"/>
          <a:lstStyle/>
          <a:p/>
        </p:txBody>
      </p:sp>
      <p:sp>
        <p:nvSpPr>
          <p:cNvPr id="89" name="Ask badge"/>
          <p:cNvSpPr/>
          <p:nvPr/>
        </p:nvSpPr>
        <p:spPr>
          <a:xfrm>
            <a:off x="530352" y="1353312"/>
            <a:ext cx="516635" cy="219456"/>
          </a:xfrm>
          <a:prstGeom prst="roundRect">
            <a:avLst>
              <a:gd name="adj" fmla="val 50000"/>
            </a:avLst>
          </a:prstGeom>
          <a:solidFill>
            <a:srgbClr val="E6FAF2"/>
          </a:solidFill>
          <a:ln>
            <a:noFill/>
          </a:ln>
        </p:spPr>
        <p:txBody>
          <a:bodyPr rtlCol="0" anchor="ctr"/>
          <a:lstStyle/>
          <a:p/>
        </p:txBody>
      </p:sp>
      <p:sp>
        <p:nvSpPr>
          <p:cNvPr id="90" name="Oval 89"/>
          <p:cNvSpPr/>
          <p:nvPr/>
        </p:nvSpPr>
        <p:spPr>
          <a:xfrm>
            <a:off x="612648" y="1431036"/>
            <a:ext cx="64008" cy="64008"/>
          </a:xfrm>
          <a:prstGeom prst="ellipse">
            <a:avLst/>
          </a:prstGeom>
          <a:solidFill>
            <a:srgbClr val="34D399"/>
          </a:solidFill>
          <a:ln>
            <a:noFill/>
          </a:ln>
        </p:spPr>
        <p:txBody>
          <a:bodyPr rtlCol="0" anchor="ctr"/>
          <a:lstStyle/>
          <a:p>
            <a:pPr algn="ctr"/>
          </a:p>
        </p:txBody>
      </p:sp>
      <p:sp>
        <p:nvSpPr>
          <p:cNvPr id="91" name="TextBox 90"/>
          <p:cNvSpPr txBox="1"/>
          <p:nvPr/>
        </p:nvSpPr>
        <p:spPr>
          <a:xfrm>
            <a:off x="713232" y="1385316"/>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92" name="TextBox 91"/>
          <p:cNvSpPr txBox="1"/>
          <p:nvPr/>
        </p:nvSpPr>
        <p:spPr>
          <a:xfrm>
            <a:off x="530352"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Verified answers</a:t>
            </a:r>
          </a:p>
        </p:txBody>
      </p:sp>
      <p:sp>
        <p:nvSpPr>
          <p:cNvPr id="93" name="TextBox 92"/>
          <p:cNvSpPr txBox="1"/>
          <p:nvPr/>
        </p:nvSpPr>
        <p:spPr>
          <a:xfrm>
            <a:off x="530352"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Every [file:line] citation is checked against lines the agent really read.</a:t>
            </a:r>
          </a:p>
        </p:txBody>
      </p:sp>
      <p:sp>
        <p:nvSpPr>
          <p:cNvPr id="94" name="Edits only as pull requests card"/>
          <p:cNvSpPr/>
          <p:nvPr/>
        </p:nvSpPr>
        <p:spPr>
          <a:xfrm>
            <a:off x="3227832" y="1207008"/>
            <a:ext cx="2679192" cy="1060704"/>
          </a:xfrm>
          <a:prstGeom prst="roundRect">
            <a:avLst>
              <a:gd name="adj" fmla="val 5172"/>
            </a:avLst>
          </a:prstGeom>
          <a:solidFill>
            <a:srgbClr val="F5F5F5"/>
          </a:solidFill>
          <a:ln>
            <a:noFill/>
          </a:ln>
        </p:spPr>
        <p:txBody>
          <a:bodyPr rtlCol="0" anchor="ctr"/>
          <a:lstStyle/>
          <a:p/>
        </p:txBody>
      </p:sp>
      <p:sp>
        <p:nvSpPr>
          <p:cNvPr id="95" name="Suggest badge"/>
          <p:cNvSpPr/>
          <p:nvPr/>
        </p:nvSpPr>
        <p:spPr>
          <a:xfrm>
            <a:off x="3392424" y="1353312"/>
            <a:ext cx="790956" cy="219456"/>
          </a:xfrm>
          <a:prstGeom prst="roundRect">
            <a:avLst>
              <a:gd name="adj" fmla="val 50000"/>
            </a:avLst>
          </a:prstGeom>
          <a:solidFill>
            <a:srgbClr val="F1ECFE"/>
          </a:solidFill>
          <a:ln>
            <a:noFill/>
          </a:ln>
        </p:spPr>
        <p:txBody>
          <a:bodyPr rtlCol="0" anchor="ctr"/>
          <a:lstStyle/>
          <a:p/>
        </p:txBody>
      </p:sp>
      <p:sp>
        <p:nvSpPr>
          <p:cNvPr id="96" name="Oval 95"/>
          <p:cNvSpPr/>
          <p:nvPr/>
        </p:nvSpPr>
        <p:spPr>
          <a:xfrm>
            <a:off x="3474720" y="1431036"/>
            <a:ext cx="64008" cy="64008"/>
          </a:xfrm>
          <a:prstGeom prst="ellipse">
            <a:avLst/>
          </a:prstGeom>
          <a:solidFill>
            <a:srgbClr val="8B5CF6"/>
          </a:solidFill>
          <a:ln>
            <a:noFill/>
          </a:ln>
        </p:spPr>
        <p:txBody>
          <a:bodyPr rtlCol="0" anchor="ctr"/>
          <a:lstStyle/>
          <a:p>
            <a:pPr algn="ctr"/>
          </a:p>
        </p:txBody>
      </p:sp>
      <p:sp>
        <p:nvSpPr>
          <p:cNvPr id="97" name="TextBox 96"/>
          <p:cNvSpPr txBox="1"/>
          <p:nvPr/>
        </p:nvSpPr>
        <p:spPr>
          <a:xfrm>
            <a:off x="3575304" y="1385316"/>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98" name="TextBox 97"/>
          <p:cNvSpPr txBox="1"/>
          <p:nvPr/>
        </p:nvSpPr>
        <p:spPr>
          <a:xfrm>
            <a:off x="3392424"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Edits only as pull requests</a:t>
            </a:r>
          </a:p>
        </p:txBody>
      </p:sp>
      <p:sp>
        <p:nvSpPr>
          <p:cNvPr id="99" name="TextBox 98"/>
          <p:cNvSpPr txBox="1"/>
          <p:nvPr/>
        </p:nvSpPr>
        <p:spPr>
          <a:xfrm>
            <a:off x="3392424"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Path allow-list, diff preview, CI check, one human review before merge.</a:t>
            </a:r>
          </a:p>
        </p:txBody>
      </p:sp>
      <p:sp>
        <p:nvSpPr>
          <p:cNvPr id="100" name="Private workspaces card"/>
          <p:cNvSpPr/>
          <p:nvPr/>
        </p:nvSpPr>
        <p:spPr>
          <a:xfrm>
            <a:off x="6089904" y="1207008"/>
            <a:ext cx="2679192" cy="1060704"/>
          </a:xfrm>
          <a:prstGeom prst="roundRect">
            <a:avLst>
              <a:gd name="adj" fmla="val 5172"/>
            </a:avLst>
          </a:prstGeom>
          <a:solidFill>
            <a:srgbClr val="F5F5F5"/>
          </a:solidFill>
          <a:ln>
            <a:noFill/>
          </a:ln>
        </p:spPr>
        <p:txBody>
          <a:bodyPr rtlCol="0" anchor="ctr"/>
          <a:lstStyle/>
          <a:p/>
        </p:txBody>
      </p:sp>
      <p:sp>
        <p:nvSpPr>
          <p:cNvPr id="101" name="Build badge"/>
          <p:cNvSpPr/>
          <p:nvPr/>
        </p:nvSpPr>
        <p:spPr>
          <a:xfrm>
            <a:off x="6254496" y="1353312"/>
            <a:ext cx="653796" cy="219456"/>
          </a:xfrm>
          <a:prstGeom prst="roundRect">
            <a:avLst>
              <a:gd name="adj" fmla="val 50000"/>
            </a:avLst>
          </a:prstGeom>
          <a:solidFill>
            <a:srgbClr val="FFF1E6"/>
          </a:solidFill>
          <a:ln>
            <a:noFill/>
          </a:ln>
        </p:spPr>
        <p:txBody>
          <a:bodyPr rtlCol="0" anchor="ctr"/>
          <a:lstStyle/>
          <a:p/>
        </p:txBody>
      </p:sp>
      <p:sp>
        <p:nvSpPr>
          <p:cNvPr id="102" name="Oval 101"/>
          <p:cNvSpPr/>
          <p:nvPr/>
        </p:nvSpPr>
        <p:spPr>
          <a:xfrm>
            <a:off x="6336792" y="1431036"/>
            <a:ext cx="64008" cy="64008"/>
          </a:xfrm>
          <a:prstGeom prst="ellipse">
            <a:avLst/>
          </a:prstGeom>
          <a:solidFill>
            <a:srgbClr val="FB923C"/>
          </a:solidFill>
          <a:ln>
            <a:noFill/>
          </a:ln>
        </p:spPr>
        <p:txBody>
          <a:bodyPr rtlCol="0" anchor="ctr"/>
          <a:lstStyle/>
          <a:p>
            <a:pPr algn="ctr"/>
          </a:p>
        </p:txBody>
      </p:sp>
      <p:sp>
        <p:nvSpPr>
          <p:cNvPr id="103" name="TextBox 102"/>
          <p:cNvSpPr txBox="1"/>
          <p:nvPr/>
        </p:nvSpPr>
        <p:spPr>
          <a:xfrm>
            <a:off x="6437376" y="1385316"/>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104" name="TextBox 103"/>
          <p:cNvSpPr txBox="1"/>
          <p:nvPr/>
        </p:nvSpPr>
        <p:spPr>
          <a:xfrm>
            <a:off x="6254496"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Private workspaces</a:t>
            </a:r>
          </a:p>
        </p:txBody>
      </p:sp>
      <p:sp>
        <p:nvSpPr>
          <p:cNvPr id="105" name="TextBox 104"/>
          <p:cNvSpPr txBox="1"/>
          <p:nvPr/>
        </p:nvSpPr>
        <p:spPr>
          <a:xfrm>
            <a:off x="6254496"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Coder and Gemini CLI on the person's own key; IAP tunnel, no public IP.</a:t>
            </a:r>
          </a:p>
        </p:txBody>
      </p:sp>
      <p:sp>
        <p:nvSpPr>
          <p:cNvPr id="106" name="Per-person model keys card"/>
          <p:cNvSpPr/>
          <p:nvPr/>
        </p:nvSpPr>
        <p:spPr>
          <a:xfrm>
            <a:off x="365760" y="2359152"/>
            <a:ext cx="2679192" cy="1060704"/>
          </a:xfrm>
          <a:prstGeom prst="roundRect">
            <a:avLst>
              <a:gd name="adj" fmla="val 5172"/>
            </a:avLst>
          </a:prstGeom>
          <a:solidFill>
            <a:srgbClr val="F5F5F5"/>
          </a:solidFill>
          <a:ln>
            <a:noFill/>
          </a:ln>
        </p:spPr>
        <p:txBody>
          <a:bodyPr rtlCol="0" anchor="ctr"/>
          <a:lstStyle/>
          <a:p/>
        </p:txBody>
      </p:sp>
      <p:sp>
        <p:nvSpPr>
          <p:cNvPr id="107" name="Govern badge"/>
          <p:cNvSpPr/>
          <p:nvPr/>
        </p:nvSpPr>
        <p:spPr>
          <a:xfrm>
            <a:off x="530352" y="2505456"/>
            <a:ext cx="722376" cy="219456"/>
          </a:xfrm>
          <a:prstGeom prst="roundRect">
            <a:avLst>
              <a:gd name="adj" fmla="val 50000"/>
            </a:avLst>
          </a:prstGeom>
          <a:solidFill>
            <a:srgbClr val="EBF2FE"/>
          </a:solidFill>
          <a:ln>
            <a:noFill/>
          </a:ln>
        </p:spPr>
        <p:txBody>
          <a:bodyPr rtlCol="0" anchor="ctr"/>
          <a:lstStyle/>
          <a:p/>
        </p:txBody>
      </p:sp>
      <p:sp>
        <p:nvSpPr>
          <p:cNvPr id="108" name="Oval 107"/>
          <p:cNvSpPr/>
          <p:nvPr/>
        </p:nvSpPr>
        <p:spPr>
          <a:xfrm>
            <a:off x="612648" y="2583180"/>
            <a:ext cx="64008" cy="64008"/>
          </a:xfrm>
          <a:prstGeom prst="ellipse">
            <a:avLst/>
          </a:prstGeom>
          <a:solidFill>
            <a:srgbClr val="3B82F6"/>
          </a:solidFill>
          <a:ln>
            <a:noFill/>
          </a:ln>
        </p:spPr>
        <p:txBody>
          <a:bodyPr rtlCol="0" anchor="ctr"/>
          <a:lstStyle/>
          <a:p>
            <a:pPr algn="ctr"/>
          </a:p>
        </p:txBody>
      </p:sp>
      <p:sp>
        <p:nvSpPr>
          <p:cNvPr id="109" name="TextBox 108"/>
          <p:cNvSpPr txBox="1"/>
          <p:nvPr/>
        </p:nvSpPr>
        <p:spPr>
          <a:xfrm>
            <a:off x="713232"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10" name="TextBox 109"/>
          <p:cNvSpPr txBox="1"/>
          <p:nvPr/>
        </p:nvSpPr>
        <p:spPr>
          <a:xfrm>
            <a:off x="530352"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Per-person model keys</a:t>
            </a:r>
          </a:p>
        </p:txBody>
      </p:sp>
      <p:sp>
        <p:nvSpPr>
          <p:cNvPr id="111" name="TextBox 110"/>
          <p:cNvSpPr txBox="1"/>
          <p:nvPr/>
        </p:nvSpPr>
        <p:spPr>
          <a:xfrm>
            <a:off x="530352"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Models and budget per level, enforced by the gateway on each key.</a:t>
            </a:r>
          </a:p>
        </p:txBody>
      </p:sp>
      <p:sp>
        <p:nvSpPr>
          <p:cNvPr id="112" name="Temporary access card"/>
          <p:cNvSpPr/>
          <p:nvPr/>
        </p:nvSpPr>
        <p:spPr>
          <a:xfrm>
            <a:off x="3227832" y="2359152"/>
            <a:ext cx="2679192" cy="1060704"/>
          </a:xfrm>
          <a:prstGeom prst="roundRect">
            <a:avLst>
              <a:gd name="adj" fmla="val 5172"/>
            </a:avLst>
          </a:prstGeom>
          <a:solidFill>
            <a:srgbClr val="F5F5F5"/>
          </a:solidFill>
          <a:ln>
            <a:noFill/>
          </a:ln>
        </p:spPr>
        <p:txBody>
          <a:bodyPr rtlCol="0" anchor="ctr"/>
          <a:lstStyle/>
          <a:p/>
        </p:txBody>
      </p:sp>
      <p:sp>
        <p:nvSpPr>
          <p:cNvPr id="113" name="Govern badge"/>
          <p:cNvSpPr/>
          <p:nvPr/>
        </p:nvSpPr>
        <p:spPr>
          <a:xfrm>
            <a:off x="3392424" y="2505456"/>
            <a:ext cx="722376" cy="219456"/>
          </a:xfrm>
          <a:prstGeom prst="roundRect">
            <a:avLst>
              <a:gd name="adj" fmla="val 50000"/>
            </a:avLst>
          </a:prstGeom>
          <a:solidFill>
            <a:srgbClr val="EBF2FE"/>
          </a:solidFill>
          <a:ln>
            <a:noFill/>
          </a:ln>
        </p:spPr>
        <p:txBody>
          <a:bodyPr rtlCol="0" anchor="ctr"/>
          <a:lstStyle/>
          <a:p/>
        </p:txBody>
      </p:sp>
      <p:sp>
        <p:nvSpPr>
          <p:cNvPr id="114" name="Oval 113"/>
          <p:cNvSpPr/>
          <p:nvPr/>
        </p:nvSpPr>
        <p:spPr>
          <a:xfrm>
            <a:off x="3474720" y="2583180"/>
            <a:ext cx="64008" cy="64008"/>
          </a:xfrm>
          <a:prstGeom prst="ellipse">
            <a:avLst/>
          </a:prstGeom>
          <a:solidFill>
            <a:srgbClr val="3B82F6"/>
          </a:solidFill>
          <a:ln>
            <a:noFill/>
          </a:ln>
        </p:spPr>
        <p:txBody>
          <a:bodyPr rtlCol="0" anchor="ctr"/>
          <a:lstStyle/>
          <a:p>
            <a:pPr algn="ctr"/>
          </a:p>
        </p:txBody>
      </p:sp>
      <p:sp>
        <p:nvSpPr>
          <p:cNvPr id="115" name="TextBox 114"/>
          <p:cNvSpPr txBox="1"/>
          <p:nvPr/>
        </p:nvSpPr>
        <p:spPr>
          <a:xfrm>
            <a:off x="3575304"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16" name="TextBox 115"/>
          <p:cNvSpPr txBox="1"/>
          <p:nvPr/>
        </p:nvSpPr>
        <p:spPr>
          <a:xfrm>
            <a:off x="3392424"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Temporary access</a:t>
            </a:r>
          </a:p>
        </p:txBody>
      </p:sp>
      <p:sp>
        <p:nvSpPr>
          <p:cNvPr id="117" name="TextBox 116"/>
          <p:cNvSpPr txBox="1"/>
          <p:nvPr/>
        </p:nvSpPr>
        <p:spPr>
          <a:xfrm>
            <a:off x="3392424"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Ask for a higher level for hours; an admin approves; it ends by itself.</a:t>
            </a:r>
          </a:p>
        </p:txBody>
      </p:sp>
      <p:sp>
        <p:nvSpPr>
          <p:cNvPr id="118" name="Kill switch card"/>
          <p:cNvSpPr/>
          <p:nvPr/>
        </p:nvSpPr>
        <p:spPr>
          <a:xfrm>
            <a:off x="6089904" y="2359152"/>
            <a:ext cx="2679192" cy="1060704"/>
          </a:xfrm>
          <a:prstGeom prst="roundRect">
            <a:avLst>
              <a:gd name="adj" fmla="val 5172"/>
            </a:avLst>
          </a:prstGeom>
          <a:solidFill>
            <a:srgbClr val="F5F5F5"/>
          </a:solidFill>
          <a:ln>
            <a:noFill/>
          </a:ln>
        </p:spPr>
        <p:txBody>
          <a:bodyPr rtlCol="0" anchor="ctr"/>
          <a:lstStyle/>
          <a:p/>
        </p:txBody>
      </p:sp>
      <p:sp>
        <p:nvSpPr>
          <p:cNvPr id="119" name="Govern badge"/>
          <p:cNvSpPr/>
          <p:nvPr/>
        </p:nvSpPr>
        <p:spPr>
          <a:xfrm>
            <a:off x="6254496" y="2505456"/>
            <a:ext cx="722376" cy="219456"/>
          </a:xfrm>
          <a:prstGeom prst="roundRect">
            <a:avLst>
              <a:gd name="adj" fmla="val 50000"/>
            </a:avLst>
          </a:prstGeom>
          <a:solidFill>
            <a:srgbClr val="EBF2FE"/>
          </a:solidFill>
          <a:ln>
            <a:noFill/>
          </a:ln>
        </p:spPr>
        <p:txBody>
          <a:bodyPr rtlCol="0" anchor="ctr"/>
          <a:lstStyle/>
          <a:p/>
        </p:txBody>
      </p:sp>
      <p:sp>
        <p:nvSpPr>
          <p:cNvPr id="120" name="Oval 119"/>
          <p:cNvSpPr/>
          <p:nvPr/>
        </p:nvSpPr>
        <p:spPr>
          <a:xfrm>
            <a:off x="6336792" y="2583180"/>
            <a:ext cx="64008" cy="64008"/>
          </a:xfrm>
          <a:prstGeom prst="ellipse">
            <a:avLst/>
          </a:prstGeom>
          <a:solidFill>
            <a:srgbClr val="3B82F6"/>
          </a:solidFill>
          <a:ln>
            <a:noFill/>
          </a:ln>
        </p:spPr>
        <p:txBody>
          <a:bodyPr rtlCol="0" anchor="ctr"/>
          <a:lstStyle/>
          <a:p>
            <a:pPr algn="ctr"/>
          </a:p>
        </p:txBody>
      </p:sp>
      <p:sp>
        <p:nvSpPr>
          <p:cNvPr id="121" name="TextBox 120"/>
          <p:cNvSpPr txBox="1"/>
          <p:nvPr/>
        </p:nvSpPr>
        <p:spPr>
          <a:xfrm>
            <a:off x="6437376"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22" name="TextBox 121"/>
          <p:cNvSpPr txBox="1"/>
          <p:nvPr/>
        </p:nvSpPr>
        <p:spPr>
          <a:xfrm>
            <a:off x="6254496"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Kill switch</a:t>
            </a:r>
          </a:p>
        </p:txBody>
      </p:sp>
      <p:sp>
        <p:nvSpPr>
          <p:cNvPr id="123" name="TextBox 122"/>
          <p:cNvSpPr txBox="1"/>
          <p:nvPr/>
        </p:nvSpPr>
        <p:spPr>
          <a:xfrm>
            <a:off x="6254496"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One click blocks a key: assistant, pull requests and workspace stop.</a:t>
            </a:r>
          </a:p>
        </p:txBody>
      </p:sp>
      <p:sp>
        <p:nvSpPr>
          <p:cNvPr id="124" name="Refusals become requests card"/>
          <p:cNvSpPr/>
          <p:nvPr/>
        </p:nvSpPr>
        <p:spPr>
          <a:xfrm>
            <a:off x="365760" y="3511296"/>
            <a:ext cx="2679192" cy="1060704"/>
          </a:xfrm>
          <a:prstGeom prst="roundRect">
            <a:avLst>
              <a:gd name="adj" fmla="val 5172"/>
            </a:avLst>
          </a:prstGeom>
          <a:solidFill>
            <a:srgbClr val="F5F5F5"/>
          </a:solidFill>
          <a:ln>
            <a:noFill/>
          </a:ln>
        </p:spPr>
        <p:txBody>
          <a:bodyPr rtlCol="0" anchor="ctr"/>
          <a:lstStyle/>
          <a:p/>
        </p:txBody>
      </p:sp>
      <p:sp>
        <p:nvSpPr>
          <p:cNvPr id="125" name="Ask badge"/>
          <p:cNvSpPr/>
          <p:nvPr/>
        </p:nvSpPr>
        <p:spPr>
          <a:xfrm>
            <a:off x="530352" y="3657600"/>
            <a:ext cx="516635" cy="219456"/>
          </a:xfrm>
          <a:prstGeom prst="roundRect">
            <a:avLst>
              <a:gd name="adj" fmla="val 50000"/>
            </a:avLst>
          </a:prstGeom>
          <a:solidFill>
            <a:srgbClr val="E6FAF2"/>
          </a:solidFill>
          <a:ln>
            <a:noFill/>
          </a:ln>
        </p:spPr>
        <p:txBody>
          <a:bodyPr rtlCol="0" anchor="ctr"/>
          <a:lstStyle/>
          <a:p/>
        </p:txBody>
      </p:sp>
      <p:sp>
        <p:nvSpPr>
          <p:cNvPr id="126" name="Oval 125"/>
          <p:cNvSpPr/>
          <p:nvPr/>
        </p:nvSpPr>
        <p:spPr>
          <a:xfrm>
            <a:off x="612648" y="3735324"/>
            <a:ext cx="64008" cy="64008"/>
          </a:xfrm>
          <a:prstGeom prst="ellipse">
            <a:avLst/>
          </a:prstGeom>
          <a:solidFill>
            <a:srgbClr val="34D399"/>
          </a:solidFill>
          <a:ln>
            <a:noFill/>
          </a:ln>
        </p:spPr>
        <p:txBody>
          <a:bodyPr rtlCol="0" anchor="ctr"/>
          <a:lstStyle/>
          <a:p>
            <a:pPr algn="ctr"/>
          </a:p>
        </p:txBody>
      </p:sp>
      <p:sp>
        <p:nvSpPr>
          <p:cNvPr id="127" name="TextBox 126"/>
          <p:cNvSpPr txBox="1"/>
          <p:nvPr/>
        </p:nvSpPr>
        <p:spPr>
          <a:xfrm>
            <a:off x="713232" y="3689604"/>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128" name="TextBox 127"/>
          <p:cNvSpPr txBox="1"/>
          <p:nvPr/>
        </p:nvSpPr>
        <p:spPr>
          <a:xfrm>
            <a:off x="530352"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Refusals become requests</a:t>
            </a:r>
          </a:p>
        </p:txBody>
      </p:sp>
      <p:sp>
        <p:nvSpPr>
          <p:cNvPr id="129" name="TextBox 128"/>
          <p:cNvSpPr txBox="1"/>
          <p:nvPr/>
        </p:nvSpPr>
        <p:spPr>
          <a:xfrm>
            <a:off x="530352"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 change your level can't make goes to the owning team's inbox.</a:t>
            </a:r>
          </a:p>
        </p:txBody>
      </p:sp>
      <p:sp>
        <p:nvSpPr>
          <p:cNvPr id="130" name="Explain every decision card"/>
          <p:cNvSpPr/>
          <p:nvPr/>
        </p:nvSpPr>
        <p:spPr>
          <a:xfrm>
            <a:off x="3227832" y="3511296"/>
            <a:ext cx="2679192" cy="1060704"/>
          </a:xfrm>
          <a:prstGeom prst="roundRect">
            <a:avLst>
              <a:gd name="adj" fmla="val 5172"/>
            </a:avLst>
          </a:prstGeom>
          <a:solidFill>
            <a:srgbClr val="F5F5F5"/>
          </a:solidFill>
          <a:ln>
            <a:noFill/>
          </a:ln>
        </p:spPr>
        <p:txBody>
          <a:bodyPr rtlCol="0" anchor="ctr"/>
          <a:lstStyle/>
          <a:p/>
        </p:txBody>
      </p:sp>
      <p:sp>
        <p:nvSpPr>
          <p:cNvPr id="131" name="Govern badge"/>
          <p:cNvSpPr/>
          <p:nvPr/>
        </p:nvSpPr>
        <p:spPr>
          <a:xfrm>
            <a:off x="3392424" y="3657600"/>
            <a:ext cx="722376" cy="219456"/>
          </a:xfrm>
          <a:prstGeom prst="roundRect">
            <a:avLst>
              <a:gd name="adj" fmla="val 50000"/>
            </a:avLst>
          </a:prstGeom>
          <a:solidFill>
            <a:srgbClr val="EBF2FE"/>
          </a:solidFill>
          <a:ln>
            <a:noFill/>
          </a:ln>
        </p:spPr>
        <p:txBody>
          <a:bodyPr rtlCol="0" anchor="ctr"/>
          <a:lstStyle/>
          <a:p/>
        </p:txBody>
      </p:sp>
      <p:sp>
        <p:nvSpPr>
          <p:cNvPr id="132" name="Oval 131"/>
          <p:cNvSpPr/>
          <p:nvPr/>
        </p:nvSpPr>
        <p:spPr>
          <a:xfrm>
            <a:off x="3474720" y="3735324"/>
            <a:ext cx="64008" cy="64008"/>
          </a:xfrm>
          <a:prstGeom prst="ellipse">
            <a:avLst/>
          </a:prstGeom>
          <a:solidFill>
            <a:srgbClr val="3B82F6"/>
          </a:solidFill>
          <a:ln>
            <a:noFill/>
          </a:ln>
        </p:spPr>
        <p:txBody>
          <a:bodyPr rtlCol="0" anchor="ctr"/>
          <a:lstStyle/>
          <a:p>
            <a:pPr algn="ctr"/>
          </a:p>
        </p:txBody>
      </p:sp>
      <p:sp>
        <p:nvSpPr>
          <p:cNvPr id="133" name="TextBox 132"/>
          <p:cNvSpPr txBox="1"/>
          <p:nvPr/>
        </p:nvSpPr>
        <p:spPr>
          <a:xfrm>
            <a:off x="3575304" y="368960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34" name="TextBox 133"/>
          <p:cNvSpPr txBox="1"/>
          <p:nvPr/>
        </p:nvSpPr>
        <p:spPr>
          <a:xfrm>
            <a:off x="3392424"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Explain every decision</a:t>
            </a:r>
          </a:p>
        </p:txBody>
      </p:sp>
      <p:sp>
        <p:nvSpPr>
          <p:cNvPr id="135" name="TextBox 134"/>
          <p:cNvSpPr txBox="1"/>
          <p:nvPr/>
        </p:nvSpPr>
        <p:spPr>
          <a:xfrm>
            <a:off x="3392424"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Each check in order, the deciding rule and policy version; a simulator.</a:t>
            </a:r>
          </a:p>
        </p:txBody>
      </p:sp>
      <p:sp>
        <p:nvSpPr>
          <p:cNvPr id="136" name="Audit and evidence card"/>
          <p:cNvSpPr/>
          <p:nvPr/>
        </p:nvSpPr>
        <p:spPr>
          <a:xfrm>
            <a:off x="6089904" y="3511296"/>
            <a:ext cx="2679192" cy="1060704"/>
          </a:xfrm>
          <a:prstGeom prst="roundRect">
            <a:avLst>
              <a:gd name="adj" fmla="val 5172"/>
            </a:avLst>
          </a:prstGeom>
          <a:solidFill>
            <a:srgbClr val="F5F5F5"/>
          </a:solidFill>
          <a:ln>
            <a:noFill/>
          </a:ln>
        </p:spPr>
        <p:txBody>
          <a:bodyPr rtlCol="0" anchor="ctr"/>
          <a:lstStyle/>
          <a:p/>
        </p:txBody>
      </p:sp>
      <p:sp>
        <p:nvSpPr>
          <p:cNvPr id="137" name="Govern badge"/>
          <p:cNvSpPr/>
          <p:nvPr/>
        </p:nvSpPr>
        <p:spPr>
          <a:xfrm>
            <a:off x="6254496" y="3657600"/>
            <a:ext cx="722376" cy="219456"/>
          </a:xfrm>
          <a:prstGeom prst="roundRect">
            <a:avLst>
              <a:gd name="adj" fmla="val 50000"/>
            </a:avLst>
          </a:prstGeom>
          <a:solidFill>
            <a:srgbClr val="EBF2FE"/>
          </a:solidFill>
          <a:ln>
            <a:noFill/>
          </a:ln>
        </p:spPr>
        <p:txBody>
          <a:bodyPr rtlCol="0" anchor="ctr"/>
          <a:lstStyle/>
          <a:p/>
        </p:txBody>
      </p:sp>
      <p:sp>
        <p:nvSpPr>
          <p:cNvPr id="138" name="Oval 137"/>
          <p:cNvSpPr/>
          <p:nvPr/>
        </p:nvSpPr>
        <p:spPr>
          <a:xfrm>
            <a:off x="6336792" y="3735324"/>
            <a:ext cx="64008" cy="64008"/>
          </a:xfrm>
          <a:prstGeom prst="ellipse">
            <a:avLst/>
          </a:prstGeom>
          <a:solidFill>
            <a:srgbClr val="3B82F6"/>
          </a:solidFill>
          <a:ln>
            <a:noFill/>
          </a:ln>
        </p:spPr>
        <p:txBody>
          <a:bodyPr rtlCol="0" anchor="ctr"/>
          <a:lstStyle/>
          <a:p>
            <a:pPr algn="ctr"/>
          </a:p>
        </p:txBody>
      </p:sp>
      <p:sp>
        <p:nvSpPr>
          <p:cNvPr id="139" name="TextBox 138"/>
          <p:cNvSpPr txBox="1"/>
          <p:nvPr/>
        </p:nvSpPr>
        <p:spPr>
          <a:xfrm>
            <a:off x="6437376" y="368960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40" name="TextBox 139"/>
          <p:cNvSpPr txBox="1"/>
          <p:nvPr/>
        </p:nvSpPr>
        <p:spPr>
          <a:xfrm>
            <a:off x="6254496"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Audit and evidence</a:t>
            </a:r>
          </a:p>
        </p:txBody>
      </p:sp>
      <p:sp>
        <p:nvSpPr>
          <p:cNvPr id="141" name="TextBox 140"/>
          <p:cNvSpPr txBox="1"/>
          <p:nvPr/>
        </p:nvSpPr>
        <p:spPr>
          <a:xfrm>
            <a:off x="6254496"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Hash-chained audit log; evidence pack mapped to SOC 2 and ISO 27001.</a:t>
            </a:r>
          </a:p>
        </p:txBody>
      </p:sp>
      <p:sp>
        <p:nvSpPr>
          <p:cNvPr id="142" name="TextBox 141"/>
          <p:cNvSpPr txBox="1"/>
          <p:nvPr/>
        </p:nvSpPr>
        <p:spPr>
          <a:xfrm>
            <a:off x="365760" y="4709160"/>
            <a:ext cx="8412480" cy="201168"/>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Also: </a:t>
            </a:r>
            <a:r>
              <a:rPr sz="1050">
                <a:solidFill>
                  <a:srgbClr val="6B7280"/>
                </a:solidFill>
                <a:latin typeface="Google Sans Flex"/>
              </a:rPr>
              <a:t>live architecture view · prompt-injection guard · spend pace per person · impact metrics · Google sign-in through IAP</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pic>
        <p:nvPicPr>
          <p:cNvPr id="96" name="Policy checks flow" descr="process-flow.png"/>
          <p:cNvPicPr>
            <a:picLocks noChangeAspect="1"/>
          </p:cNvPicPr>
          <p:nvPr/>
        </p:nvPicPr>
        <p:blipFill>
          <a:blip r:embed="rId5"/>
          <a:stretch>
            <a:fillRect/>
          </a:stretch>
        </p:blipFill>
        <p:spPr>
          <a:xfrm>
            <a:off x="365760" y="1252728"/>
            <a:ext cx="5943600" cy="2995017"/>
          </a:xfrm>
          <a:prstGeom prst="rect">
            <a:avLst/>
          </a:prstGeom>
          <a:ln w="9525">
            <a:solidFill>
              <a:srgbClr val="E5E7EB"/>
            </a:solidFill>
          </a:ln>
        </p:spPr>
      </p:pic>
      <p:sp>
        <p:nvSpPr>
          <p:cNvPr id="97" name="TextBox 96"/>
          <p:cNvSpPr txBox="1"/>
          <p:nvPr/>
        </p:nvSpPr>
        <p:spPr>
          <a:xfrm>
            <a:off x="6537960" y="1207008"/>
            <a:ext cx="2240280" cy="274320"/>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Same checks, every time</a:t>
            </a:r>
          </a:p>
        </p:txBody>
      </p:sp>
      <p:sp>
        <p:nvSpPr>
          <p:cNvPr id="98" name="Oval 97"/>
          <p:cNvSpPr/>
          <p:nvPr/>
        </p:nvSpPr>
        <p:spPr>
          <a:xfrm>
            <a:off x="6537960" y="1618488"/>
            <a:ext cx="219456" cy="219456"/>
          </a:xfrm>
          <a:prstGeom prst="ellipse">
            <a:avLst/>
          </a:prstGeom>
          <a:solidFill>
            <a:srgbClr val="111111"/>
          </a:solidFill>
          <a:ln>
            <a:noFill/>
          </a:ln>
        </p:spPr>
        <p:txBody>
          <a:bodyPr rtlCol="0" anchor="ctr"/>
          <a:lstStyle/>
          <a:p>
            <a:pPr algn="ctr"/>
          </a:p>
        </p:txBody>
      </p:sp>
      <p:sp>
        <p:nvSpPr>
          <p:cNvPr id="99" name="TextBox 98"/>
          <p:cNvSpPr txBox="1"/>
          <p:nvPr/>
        </p:nvSpPr>
        <p:spPr>
          <a:xfrm>
            <a:off x="6537960" y="1650492"/>
            <a:ext cx="219456" cy="164592"/>
          </a:xfrm>
          <a:prstGeom prst="rect">
            <a:avLst/>
          </a:prstGeom>
          <a:noFill/>
        </p:spPr>
        <p:txBody>
          <a:bodyPr wrap="square" lIns="0" rIns="0" tIns="0" bIns="0" anchor="t">
            <a:spAutoFit/>
          </a:bodyPr>
          <a:lstStyle/>
          <a:p>
            <a:pPr algn="ctr">
              <a:spcAft>
                <a:spcPts val="400"/>
              </a:spcAft>
            </a:pPr>
            <a:r>
              <a:rPr sz="900">
                <a:solidFill>
                  <a:srgbClr val="FFFFFF"/>
                </a:solidFill>
                <a:latin typeface="Google Sans Flex"/>
              </a:rPr>
              <a:t>1</a:t>
            </a:r>
          </a:p>
        </p:txBody>
      </p:sp>
      <p:sp>
        <p:nvSpPr>
          <p:cNvPr id="100" name="TextBox 99"/>
          <p:cNvSpPr txBox="1"/>
          <p:nvPr/>
        </p:nvSpPr>
        <p:spPr>
          <a:xfrm>
            <a:off x="6848856" y="1618488"/>
            <a:ext cx="1920240" cy="41148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Google sign-in; the level comes from role.yaml.</a:t>
            </a:r>
          </a:p>
        </p:txBody>
      </p:sp>
      <p:sp>
        <p:nvSpPr>
          <p:cNvPr id="101" name="Oval 100"/>
          <p:cNvSpPr/>
          <p:nvPr/>
        </p:nvSpPr>
        <p:spPr>
          <a:xfrm>
            <a:off x="6537960" y="2075688"/>
            <a:ext cx="219456" cy="219456"/>
          </a:xfrm>
          <a:prstGeom prst="ellipse">
            <a:avLst/>
          </a:prstGeom>
          <a:solidFill>
            <a:srgbClr val="111111"/>
          </a:solidFill>
          <a:ln>
            <a:noFill/>
          </a:ln>
        </p:spPr>
        <p:txBody>
          <a:bodyPr rtlCol="0" anchor="ctr"/>
          <a:lstStyle/>
          <a:p>
            <a:pPr algn="ctr"/>
          </a:p>
        </p:txBody>
      </p:sp>
      <p:sp>
        <p:nvSpPr>
          <p:cNvPr id="102" name="TextBox 101"/>
          <p:cNvSpPr txBox="1"/>
          <p:nvPr/>
        </p:nvSpPr>
        <p:spPr>
          <a:xfrm>
            <a:off x="6537960" y="2107692"/>
            <a:ext cx="219456" cy="164592"/>
          </a:xfrm>
          <a:prstGeom prst="rect">
            <a:avLst/>
          </a:prstGeom>
          <a:noFill/>
        </p:spPr>
        <p:txBody>
          <a:bodyPr wrap="square" lIns="0" rIns="0" tIns="0" bIns="0" anchor="t">
            <a:spAutoFit/>
          </a:bodyPr>
          <a:lstStyle/>
          <a:p>
            <a:pPr algn="ctr">
              <a:spcAft>
                <a:spcPts val="400"/>
              </a:spcAft>
            </a:pPr>
            <a:r>
              <a:rPr sz="900">
                <a:solidFill>
                  <a:srgbClr val="FFFFFF"/>
                </a:solidFill>
                <a:latin typeface="Google Sans Flex"/>
              </a:rPr>
              <a:t>2</a:t>
            </a:r>
          </a:p>
        </p:txBody>
      </p:sp>
      <p:sp>
        <p:nvSpPr>
          <p:cNvPr id="103" name="TextBox 102"/>
          <p:cNvSpPr txBox="1"/>
          <p:nvPr/>
        </p:nvSpPr>
        <p:spPr>
          <a:xfrm>
            <a:off x="6848856" y="2075688"/>
            <a:ext cx="1920240" cy="41148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Gateway checks the key: models, budget, block.</a:t>
            </a:r>
          </a:p>
        </p:txBody>
      </p:sp>
      <p:sp>
        <p:nvSpPr>
          <p:cNvPr id="104" name="Oval 103"/>
          <p:cNvSpPr/>
          <p:nvPr/>
        </p:nvSpPr>
        <p:spPr>
          <a:xfrm>
            <a:off x="6537960" y="2532888"/>
            <a:ext cx="219456" cy="219456"/>
          </a:xfrm>
          <a:prstGeom prst="ellipse">
            <a:avLst/>
          </a:prstGeom>
          <a:solidFill>
            <a:srgbClr val="111111"/>
          </a:solidFill>
          <a:ln>
            <a:noFill/>
          </a:ln>
        </p:spPr>
        <p:txBody>
          <a:bodyPr rtlCol="0" anchor="ctr"/>
          <a:lstStyle/>
          <a:p>
            <a:pPr algn="ctr"/>
          </a:p>
        </p:txBody>
      </p:sp>
      <p:sp>
        <p:nvSpPr>
          <p:cNvPr id="105" name="TextBox 104"/>
          <p:cNvSpPr txBox="1"/>
          <p:nvPr/>
        </p:nvSpPr>
        <p:spPr>
          <a:xfrm>
            <a:off x="6537960" y="2564892"/>
            <a:ext cx="219456" cy="164592"/>
          </a:xfrm>
          <a:prstGeom prst="rect">
            <a:avLst/>
          </a:prstGeom>
          <a:noFill/>
        </p:spPr>
        <p:txBody>
          <a:bodyPr wrap="square" lIns="0" rIns="0" tIns="0" bIns="0" anchor="t">
            <a:spAutoFit/>
          </a:bodyPr>
          <a:lstStyle/>
          <a:p>
            <a:pPr algn="ctr">
              <a:spcAft>
                <a:spcPts val="400"/>
              </a:spcAft>
            </a:pPr>
            <a:r>
              <a:rPr sz="900">
                <a:solidFill>
                  <a:srgbClr val="FFFFFF"/>
                </a:solidFill>
                <a:latin typeface="Google Sans Flex"/>
              </a:rPr>
              <a:t>3</a:t>
            </a:r>
          </a:p>
        </p:txBody>
      </p:sp>
      <p:sp>
        <p:nvSpPr>
          <p:cNvPr id="106" name="TextBox 105"/>
          <p:cNvSpPr txBox="1"/>
          <p:nvPr/>
        </p:nvSpPr>
        <p:spPr>
          <a:xfrm>
            <a:off x="6848856" y="2532888"/>
            <a:ext cx="1920240" cy="41148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The agent has only its level's tools.</a:t>
            </a:r>
          </a:p>
        </p:txBody>
      </p:sp>
      <p:sp>
        <p:nvSpPr>
          <p:cNvPr id="107" name="Oval 106"/>
          <p:cNvSpPr/>
          <p:nvPr/>
        </p:nvSpPr>
        <p:spPr>
          <a:xfrm>
            <a:off x="6537960" y="2990088"/>
            <a:ext cx="219456" cy="219456"/>
          </a:xfrm>
          <a:prstGeom prst="ellipse">
            <a:avLst/>
          </a:prstGeom>
          <a:solidFill>
            <a:srgbClr val="111111"/>
          </a:solidFill>
          <a:ln>
            <a:noFill/>
          </a:ln>
        </p:spPr>
        <p:txBody>
          <a:bodyPr rtlCol="0" anchor="ctr"/>
          <a:lstStyle/>
          <a:p>
            <a:pPr algn="ctr"/>
          </a:p>
        </p:txBody>
      </p:sp>
      <p:sp>
        <p:nvSpPr>
          <p:cNvPr id="108" name="TextBox 107"/>
          <p:cNvSpPr txBox="1"/>
          <p:nvPr/>
        </p:nvSpPr>
        <p:spPr>
          <a:xfrm>
            <a:off x="6537960" y="3022092"/>
            <a:ext cx="219456" cy="164592"/>
          </a:xfrm>
          <a:prstGeom prst="rect">
            <a:avLst/>
          </a:prstGeom>
          <a:noFill/>
        </p:spPr>
        <p:txBody>
          <a:bodyPr wrap="square" lIns="0" rIns="0" tIns="0" bIns="0" anchor="t">
            <a:spAutoFit/>
          </a:bodyPr>
          <a:lstStyle/>
          <a:p>
            <a:pPr algn="ctr">
              <a:spcAft>
                <a:spcPts val="400"/>
              </a:spcAft>
            </a:pPr>
            <a:r>
              <a:rPr sz="900">
                <a:solidFill>
                  <a:srgbClr val="FFFFFF"/>
                </a:solidFill>
                <a:latin typeface="Google Sans Flex"/>
              </a:rPr>
              <a:t>4</a:t>
            </a:r>
          </a:p>
        </p:txBody>
      </p:sp>
      <p:sp>
        <p:nvSpPr>
          <p:cNvPr id="109" name="TextBox 108"/>
          <p:cNvSpPr txBox="1"/>
          <p:nvPr/>
        </p:nvSpPr>
        <p:spPr>
          <a:xfrm>
            <a:off x="6848856" y="2990088"/>
            <a:ext cx="1920240" cy="41148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Code checks the path against the allow-list.</a:t>
            </a:r>
          </a:p>
        </p:txBody>
      </p:sp>
      <p:sp>
        <p:nvSpPr>
          <p:cNvPr id="110" name="Oval 109"/>
          <p:cNvSpPr/>
          <p:nvPr/>
        </p:nvSpPr>
        <p:spPr>
          <a:xfrm>
            <a:off x="6537960" y="3447288"/>
            <a:ext cx="219456" cy="219456"/>
          </a:xfrm>
          <a:prstGeom prst="ellipse">
            <a:avLst/>
          </a:prstGeom>
          <a:solidFill>
            <a:srgbClr val="111111"/>
          </a:solidFill>
          <a:ln>
            <a:noFill/>
          </a:ln>
        </p:spPr>
        <p:txBody>
          <a:bodyPr rtlCol="0" anchor="ctr"/>
          <a:lstStyle/>
          <a:p>
            <a:pPr algn="ctr"/>
          </a:p>
        </p:txBody>
      </p:sp>
      <p:sp>
        <p:nvSpPr>
          <p:cNvPr id="111" name="TextBox 110"/>
          <p:cNvSpPr txBox="1"/>
          <p:nvPr/>
        </p:nvSpPr>
        <p:spPr>
          <a:xfrm>
            <a:off x="6537960" y="3479292"/>
            <a:ext cx="219456" cy="164592"/>
          </a:xfrm>
          <a:prstGeom prst="rect">
            <a:avLst/>
          </a:prstGeom>
          <a:noFill/>
        </p:spPr>
        <p:txBody>
          <a:bodyPr wrap="square" lIns="0" rIns="0" tIns="0" bIns="0" anchor="t">
            <a:spAutoFit/>
          </a:bodyPr>
          <a:lstStyle/>
          <a:p>
            <a:pPr algn="ctr">
              <a:spcAft>
                <a:spcPts val="400"/>
              </a:spcAft>
            </a:pPr>
            <a:r>
              <a:rPr sz="900">
                <a:solidFill>
                  <a:srgbClr val="FFFFFF"/>
                </a:solidFill>
                <a:latin typeface="Google Sans Flex"/>
              </a:rPr>
              <a:t>5</a:t>
            </a:r>
          </a:p>
        </p:txBody>
      </p:sp>
      <p:sp>
        <p:nvSpPr>
          <p:cNvPr id="112" name="TextBox 111"/>
          <p:cNvSpPr txBox="1"/>
          <p:nvPr/>
        </p:nvSpPr>
        <p:spPr>
          <a:xfrm>
            <a:off x="6848856" y="3447288"/>
            <a:ext cx="1920240" cy="41148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Preview, then a PR: CI check and a human review.</a:t>
            </a:r>
          </a:p>
        </p:txBody>
      </p:sp>
      <p:sp>
        <p:nvSpPr>
          <p:cNvPr id="113" name="TextBox 112"/>
          <p:cNvSpPr txBox="1"/>
          <p:nvPr/>
        </p:nvSpPr>
        <p:spPr>
          <a:xfrm>
            <a:off x="6537960" y="3950207"/>
            <a:ext cx="2240280" cy="64008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Three outcomes: </a:t>
            </a:r>
            <a:r>
              <a:rPr sz="1050">
                <a:solidFill>
                  <a:srgbClr val="374151"/>
                </a:solidFill>
                <a:latin typeface="Google Sans Flex"/>
              </a:rPr>
              <a:t>a pull request, a denial with its reason, or a request to the owning team. Every stop is in the audit log.</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TextBox 103"/>
          <p:cNvSpPr txBox="1"/>
          <p:nvPr/>
        </p:nvSpPr>
        <p:spPr>
          <a:xfrm>
            <a:off x="365760" y="1161288"/>
            <a:ext cx="8412480" cy="274320"/>
          </a:xfrm>
          <a:prstGeom prst="rect">
            <a:avLst/>
          </a:prstGeom>
          <a:noFill/>
        </p:spPr>
        <p:txBody>
          <a:bodyPr wrap="square" lIns="0" rIns="0" tIns="0" bIns="0" anchor="t">
            <a:spAutoFit/>
          </a:bodyPr>
          <a:lstStyle/>
          <a:p>
            <a:pPr algn="l">
              <a:spcAft>
                <a:spcPts val="400"/>
              </a:spcAft>
            </a:pPr>
            <a:r>
              <a:rPr sz="1150">
                <a:solidFill>
                  <a:srgbClr val="6B7280"/>
                </a:solidFill>
                <a:latin typeface="Google Sans Flex"/>
              </a:rPr>
              <a:t>One app, eight screens. What each person sees follows their level.</a:t>
            </a:r>
          </a:p>
        </p:txBody>
      </p:sp>
      <p:sp>
        <p:nvSpPr>
          <p:cNvPr id="105" name="Assistant screen"/>
          <p:cNvSpPr/>
          <p:nvPr/>
        </p:nvSpPr>
        <p:spPr>
          <a:xfrm>
            <a:off x="365760" y="1527048"/>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06" name="Assistant window bar"/>
          <p:cNvSpPr/>
          <p:nvPr/>
        </p:nvSpPr>
        <p:spPr>
          <a:xfrm>
            <a:off x="365760" y="1527048"/>
            <a:ext cx="1965960" cy="274320"/>
          </a:xfrm>
          <a:prstGeom prst="roundRect">
            <a:avLst>
              <a:gd name="adj" fmla="val 20000"/>
            </a:avLst>
          </a:prstGeom>
          <a:solidFill>
            <a:srgbClr val="F5F5F5"/>
          </a:solidFill>
          <a:ln>
            <a:noFill/>
          </a:ln>
        </p:spPr>
        <p:txBody>
          <a:bodyPr rtlCol="0" anchor="ctr"/>
          <a:lstStyle/>
          <a:p/>
        </p:txBody>
      </p:sp>
      <p:sp>
        <p:nvSpPr>
          <p:cNvPr id="107" name="Oval 106"/>
          <p:cNvSpPr/>
          <p:nvPr/>
        </p:nvSpPr>
        <p:spPr>
          <a:xfrm>
            <a:off x="475488" y="1627632"/>
            <a:ext cx="73152" cy="73152"/>
          </a:xfrm>
          <a:prstGeom prst="ellipse">
            <a:avLst/>
          </a:prstGeom>
          <a:solidFill>
            <a:srgbClr val="E5E7EB"/>
          </a:solidFill>
          <a:ln>
            <a:noFill/>
          </a:ln>
        </p:spPr>
        <p:txBody>
          <a:bodyPr rtlCol="0" anchor="ctr"/>
          <a:lstStyle/>
          <a:p>
            <a:pPr algn="ctr"/>
          </a:p>
        </p:txBody>
      </p:sp>
      <p:sp>
        <p:nvSpPr>
          <p:cNvPr id="108" name="Oval 107"/>
          <p:cNvSpPr/>
          <p:nvPr/>
        </p:nvSpPr>
        <p:spPr>
          <a:xfrm>
            <a:off x="594360" y="1627632"/>
            <a:ext cx="73152" cy="73152"/>
          </a:xfrm>
          <a:prstGeom prst="ellipse">
            <a:avLst/>
          </a:prstGeom>
          <a:solidFill>
            <a:srgbClr val="E5E7EB"/>
          </a:solidFill>
          <a:ln>
            <a:noFill/>
          </a:ln>
        </p:spPr>
        <p:txBody>
          <a:bodyPr rtlCol="0" anchor="ctr"/>
          <a:lstStyle/>
          <a:p>
            <a:pPr algn="ctr"/>
          </a:p>
        </p:txBody>
      </p:sp>
      <p:sp>
        <p:nvSpPr>
          <p:cNvPr id="109" name="Oval 108"/>
          <p:cNvSpPr/>
          <p:nvPr/>
        </p:nvSpPr>
        <p:spPr>
          <a:xfrm>
            <a:off x="713232" y="1627632"/>
            <a:ext cx="73152" cy="73152"/>
          </a:xfrm>
          <a:prstGeom prst="ellipse">
            <a:avLst/>
          </a:prstGeom>
          <a:solidFill>
            <a:srgbClr val="E5E7EB"/>
          </a:solidFill>
          <a:ln>
            <a:noFill/>
          </a:ln>
        </p:spPr>
        <p:txBody>
          <a:bodyPr rtlCol="0" anchor="ctr"/>
          <a:lstStyle/>
          <a:p>
            <a:pPr algn="ctr"/>
          </a:p>
        </p:txBody>
      </p:sp>
      <p:sp>
        <p:nvSpPr>
          <p:cNvPr id="110" name="TextBox 109"/>
          <p:cNvSpPr txBox="1"/>
          <p:nvPr/>
        </p:nvSpPr>
        <p:spPr>
          <a:xfrm>
            <a:off x="512064" y="1911095"/>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Assistant</a:t>
            </a:r>
          </a:p>
        </p:txBody>
      </p:sp>
      <p:sp>
        <p:nvSpPr>
          <p:cNvPr id="111" name="TextBox 110"/>
          <p:cNvSpPr txBox="1"/>
          <p:nvPr/>
        </p:nvSpPr>
        <p:spPr>
          <a:xfrm>
            <a:off x="512064" y="2167128"/>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Ask about the code; answers cite lines that are checked; edits arrive as a diff.</a:t>
            </a:r>
          </a:p>
        </p:txBody>
      </p:sp>
      <p:sp>
        <p:nvSpPr>
          <p:cNvPr id="112" name="TextBox 111"/>
          <p:cNvSpPr txBox="1"/>
          <p:nvPr/>
        </p:nvSpPr>
        <p:spPr>
          <a:xfrm>
            <a:off x="512064" y="2788920"/>
            <a:ext cx="1673351" cy="182880"/>
          </a:xfrm>
          <a:prstGeom prst="rect">
            <a:avLst/>
          </a:prstGeom>
          <a:noFill/>
        </p:spPr>
        <p:txBody>
          <a:bodyPr wrap="square" lIns="0" rIns="0" tIns="0" bIns="0" anchor="t">
            <a:spAutoFit/>
          </a:bodyPr>
          <a:lstStyle/>
          <a:p>
            <a:pPr algn="l">
              <a:spcAft>
                <a:spcPts val="400"/>
              </a:spcAft>
            </a:pPr>
            <a:r>
              <a:rPr sz="950">
                <a:solidFill>
                  <a:srgbClr val="6B7280"/>
                </a:solidFill>
                <a:latin typeface="Google Sans Flex"/>
              </a:rPr>
              <a:t>Everyone</a:t>
            </a:r>
          </a:p>
        </p:txBody>
      </p:sp>
      <p:sp>
        <p:nvSpPr>
          <p:cNvPr id="113" name="Requests screen"/>
          <p:cNvSpPr/>
          <p:nvPr/>
        </p:nvSpPr>
        <p:spPr>
          <a:xfrm>
            <a:off x="2514600" y="1527048"/>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14" name="Requests window bar"/>
          <p:cNvSpPr/>
          <p:nvPr/>
        </p:nvSpPr>
        <p:spPr>
          <a:xfrm>
            <a:off x="2514600" y="1527048"/>
            <a:ext cx="1965960" cy="274320"/>
          </a:xfrm>
          <a:prstGeom prst="roundRect">
            <a:avLst>
              <a:gd name="adj" fmla="val 20000"/>
            </a:avLst>
          </a:prstGeom>
          <a:solidFill>
            <a:srgbClr val="F5F5F5"/>
          </a:solidFill>
          <a:ln>
            <a:noFill/>
          </a:ln>
        </p:spPr>
        <p:txBody>
          <a:bodyPr rtlCol="0" anchor="ctr"/>
          <a:lstStyle/>
          <a:p/>
        </p:txBody>
      </p:sp>
      <p:sp>
        <p:nvSpPr>
          <p:cNvPr id="115" name="Oval 114"/>
          <p:cNvSpPr/>
          <p:nvPr/>
        </p:nvSpPr>
        <p:spPr>
          <a:xfrm>
            <a:off x="2624328" y="1627632"/>
            <a:ext cx="73152" cy="73152"/>
          </a:xfrm>
          <a:prstGeom prst="ellipse">
            <a:avLst/>
          </a:prstGeom>
          <a:solidFill>
            <a:srgbClr val="E5E7EB"/>
          </a:solidFill>
          <a:ln>
            <a:noFill/>
          </a:ln>
        </p:spPr>
        <p:txBody>
          <a:bodyPr rtlCol="0" anchor="ctr"/>
          <a:lstStyle/>
          <a:p>
            <a:pPr algn="ctr"/>
          </a:p>
        </p:txBody>
      </p:sp>
      <p:sp>
        <p:nvSpPr>
          <p:cNvPr id="116" name="Oval 115"/>
          <p:cNvSpPr/>
          <p:nvPr/>
        </p:nvSpPr>
        <p:spPr>
          <a:xfrm>
            <a:off x="2743200" y="1627632"/>
            <a:ext cx="73152" cy="73152"/>
          </a:xfrm>
          <a:prstGeom prst="ellipse">
            <a:avLst/>
          </a:prstGeom>
          <a:solidFill>
            <a:srgbClr val="E5E7EB"/>
          </a:solidFill>
          <a:ln>
            <a:noFill/>
          </a:ln>
        </p:spPr>
        <p:txBody>
          <a:bodyPr rtlCol="0" anchor="ctr"/>
          <a:lstStyle/>
          <a:p>
            <a:pPr algn="ctr"/>
          </a:p>
        </p:txBody>
      </p:sp>
      <p:sp>
        <p:nvSpPr>
          <p:cNvPr id="117" name="Oval 116"/>
          <p:cNvSpPr/>
          <p:nvPr/>
        </p:nvSpPr>
        <p:spPr>
          <a:xfrm>
            <a:off x="2862072" y="1627632"/>
            <a:ext cx="73152" cy="73152"/>
          </a:xfrm>
          <a:prstGeom prst="ellipse">
            <a:avLst/>
          </a:prstGeom>
          <a:solidFill>
            <a:srgbClr val="E5E7EB"/>
          </a:solidFill>
          <a:ln>
            <a:noFill/>
          </a:ln>
        </p:spPr>
        <p:txBody>
          <a:bodyPr rtlCol="0" anchor="ctr"/>
          <a:lstStyle/>
          <a:p>
            <a:pPr algn="ctr"/>
          </a:p>
        </p:txBody>
      </p:sp>
      <p:sp>
        <p:nvSpPr>
          <p:cNvPr id="118" name="TextBox 117"/>
          <p:cNvSpPr txBox="1"/>
          <p:nvPr/>
        </p:nvSpPr>
        <p:spPr>
          <a:xfrm>
            <a:off x="2660904" y="1911095"/>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Requests</a:t>
            </a:r>
          </a:p>
        </p:txBody>
      </p:sp>
      <p:sp>
        <p:nvSpPr>
          <p:cNvPr id="119" name="TextBox 118"/>
          <p:cNvSpPr txBox="1"/>
          <p:nvPr/>
        </p:nvSpPr>
        <p:spPr>
          <a:xfrm>
            <a:off x="2660904" y="2167128"/>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Refusals and access requests, with owner, status and history.</a:t>
            </a:r>
          </a:p>
        </p:txBody>
      </p:sp>
      <p:sp>
        <p:nvSpPr>
          <p:cNvPr id="120" name="TextBox 119"/>
          <p:cNvSpPr txBox="1"/>
          <p:nvPr/>
        </p:nvSpPr>
        <p:spPr>
          <a:xfrm>
            <a:off x="2660904" y="2788920"/>
            <a:ext cx="1673351" cy="182880"/>
          </a:xfrm>
          <a:prstGeom prst="rect">
            <a:avLst/>
          </a:prstGeom>
          <a:noFill/>
        </p:spPr>
        <p:txBody>
          <a:bodyPr wrap="square" lIns="0" rIns="0" tIns="0" bIns="0" anchor="t">
            <a:spAutoFit/>
          </a:bodyPr>
          <a:lstStyle/>
          <a:p>
            <a:pPr algn="l">
              <a:spcAft>
                <a:spcPts val="400"/>
              </a:spcAft>
            </a:pPr>
            <a:r>
              <a:rPr sz="950">
                <a:solidFill>
                  <a:srgbClr val="6B7280"/>
                </a:solidFill>
                <a:latin typeface="Google Sans Flex"/>
              </a:rPr>
              <a:t>Everyone</a:t>
            </a:r>
          </a:p>
        </p:txBody>
      </p:sp>
      <p:sp>
        <p:nvSpPr>
          <p:cNvPr id="121" name="Workspace screen"/>
          <p:cNvSpPr/>
          <p:nvPr/>
        </p:nvSpPr>
        <p:spPr>
          <a:xfrm>
            <a:off x="4663440" y="1527048"/>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22" name="Workspace window bar"/>
          <p:cNvSpPr/>
          <p:nvPr/>
        </p:nvSpPr>
        <p:spPr>
          <a:xfrm>
            <a:off x="4663440" y="1527048"/>
            <a:ext cx="1965960" cy="274320"/>
          </a:xfrm>
          <a:prstGeom prst="roundRect">
            <a:avLst>
              <a:gd name="adj" fmla="val 20000"/>
            </a:avLst>
          </a:prstGeom>
          <a:solidFill>
            <a:srgbClr val="F5F5F5"/>
          </a:solidFill>
          <a:ln>
            <a:noFill/>
          </a:ln>
        </p:spPr>
        <p:txBody>
          <a:bodyPr rtlCol="0" anchor="ctr"/>
          <a:lstStyle/>
          <a:p/>
        </p:txBody>
      </p:sp>
      <p:sp>
        <p:nvSpPr>
          <p:cNvPr id="123" name="Oval 122"/>
          <p:cNvSpPr/>
          <p:nvPr/>
        </p:nvSpPr>
        <p:spPr>
          <a:xfrm>
            <a:off x="4773168" y="1627632"/>
            <a:ext cx="73152" cy="73152"/>
          </a:xfrm>
          <a:prstGeom prst="ellipse">
            <a:avLst/>
          </a:prstGeom>
          <a:solidFill>
            <a:srgbClr val="E5E7EB"/>
          </a:solidFill>
          <a:ln>
            <a:noFill/>
          </a:ln>
        </p:spPr>
        <p:txBody>
          <a:bodyPr rtlCol="0" anchor="ctr"/>
          <a:lstStyle/>
          <a:p>
            <a:pPr algn="ctr"/>
          </a:p>
        </p:txBody>
      </p:sp>
      <p:sp>
        <p:nvSpPr>
          <p:cNvPr id="124" name="Oval 123"/>
          <p:cNvSpPr/>
          <p:nvPr/>
        </p:nvSpPr>
        <p:spPr>
          <a:xfrm>
            <a:off x="4892040" y="1627632"/>
            <a:ext cx="73152" cy="73152"/>
          </a:xfrm>
          <a:prstGeom prst="ellipse">
            <a:avLst/>
          </a:prstGeom>
          <a:solidFill>
            <a:srgbClr val="E5E7EB"/>
          </a:solidFill>
          <a:ln>
            <a:noFill/>
          </a:ln>
        </p:spPr>
        <p:txBody>
          <a:bodyPr rtlCol="0" anchor="ctr"/>
          <a:lstStyle/>
          <a:p>
            <a:pPr algn="ctr"/>
          </a:p>
        </p:txBody>
      </p:sp>
      <p:sp>
        <p:nvSpPr>
          <p:cNvPr id="125" name="Oval 124"/>
          <p:cNvSpPr/>
          <p:nvPr/>
        </p:nvSpPr>
        <p:spPr>
          <a:xfrm>
            <a:off x="5010912" y="1627632"/>
            <a:ext cx="73152" cy="73152"/>
          </a:xfrm>
          <a:prstGeom prst="ellipse">
            <a:avLst/>
          </a:prstGeom>
          <a:solidFill>
            <a:srgbClr val="E5E7EB"/>
          </a:solidFill>
          <a:ln>
            <a:noFill/>
          </a:ln>
        </p:spPr>
        <p:txBody>
          <a:bodyPr rtlCol="0" anchor="ctr"/>
          <a:lstStyle/>
          <a:p>
            <a:pPr algn="ctr"/>
          </a:p>
        </p:txBody>
      </p:sp>
      <p:sp>
        <p:nvSpPr>
          <p:cNvPr id="126" name="TextBox 125"/>
          <p:cNvSpPr txBox="1"/>
          <p:nvPr/>
        </p:nvSpPr>
        <p:spPr>
          <a:xfrm>
            <a:off x="4809744" y="1911095"/>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Workspace</a:t>
            </a:r>
          </a:p>
        </p:txBody>
      </p:sp>
      <p:sp>
        <p:nvSpPr>
          <p:cNvPr id="127" name="TextBox 126"/>
          <p:cNvSpPr txBox="1"/>
          <p:nvPr/>
        </p:nvSpPr>
        <p:spPr>
          <a:xfrm>
            <a:off x="4809744" y="2167128"/>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How to open the private Coder workspace; its guardrails.</a:t>
            </a:r>
          </a:p>
        </p:txBody>
      </p:sp>
      <p:sp>
        <p:nvSpPr>
          <p:cNvPr id="128" name="Build badge"/>
          <p:cNvSpPr/>
          <p:nvPr/>
        </p:nvSpPr>
        <p:spPr>
          <a:xfrm>
            <a:off x="4809744" y="2752344"/>
            <a:ext cx="653796" cy="219456"/>
          </a:xfrm>
          <a:prstGeom prst="roundRect">
            <a:avLst>
              <a:gd name="adj" fmla="val 50000"/>
            </a:avLst>
          </a:prstGeom>
          <a:solidFill>
            <a:srgbClr val="FFF1E6"/>
          </a:solidFill>
          <a:ln>
            <a:noFill/>
          </a:ln>
        </p:spPr>
        <p:txBody>
          <a:bodyPr rtlCol="0" anchor="ctr"/>
          <a:lstStyle/>
          <a:p/>
        </p:txBody>
      </p:sp>
      <p:sp>
        <p:nvSpPr>
          <p:cNvPr id="129" name="Oval 128"/>
          <p:cNvSpPr/>
          <p:nvPr/>
        </p:nvSpPr>
        <p:spPr>
          <a:xfrm>
            <a:off x="4892040" y="2830068"/>
            <a:ext cx="64008" cy="64008"/>
          </a:xfrm>
          <a:prstGeom prst="ellipse">
            <a:avLst/>
          </a:prstGeom>
          <a:solidFill>
            <a:srgbClr val="FB923C"/>
          </a:solidFill>
          <a:ln>
            <a:noFill/>
          </a:ln>
        </p:spPr>
        <p:txBody>
          <a:bodyPr rtlCol="0" anchor="ctr"/>
          <a:lstStyle/>
          <a:p>
            <a:pPr algn="ctr"/>
          </a:p>
        </p:txBody>
      </p:sp>
      <p:sp>
        <p:nvSpPr>
          <p:cNvPr id="130" name="TextBox 129"/>
          <p:cNvSpPr txBox="1"/>
          <p:nvPr/>
        </p:nvSpPr>
        <p:spPr>
          <a:xfrm>
            <a:off x="4992624" y="2784348"/>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131" name="Overview screen"/>
          <p:cNvSpPr/>
          <p:nvPr/>
        </p:nvSpPr>
        <p:spPr>
          <a:xfrm>
            <a:off x="6812280" y="1527048"/>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32" name="Overview window bar"/>
          <p:cNvSpPr/>
          <p:nvPr/>
        </p:nvSpPr>
        <p:spPr>
          <a:xfrm>
            <a:off x="6812280" y="1527048"/>
            <a:ext cx="1965960" cy="274320"/>
          </a:xfrm>
          <a:prstGeom prst="roundRect">
            <a:avLst>
              <a:gd name="adj" fmla="val 20000"/>
            </a:avLst>
          </a:prstGeom>
          <a:solidFill>
            <a:srgbClr val="F5F5F5"/>
          </a:solidFill>
          <a:ln>
            <a:noFill/>
          </a:ln>
        </p:spPr>
        <p:txBody>
          <a:bodyPr rtlCol="0" anchor="ctr"/>
          <a:lstStyle/>
          <a:p/>
        </p:txBody>
      </p:sp>
      <p:sp>
        <p:nvSpPr>
          <p:cNvPr id="133" name="Oval 132"/>
          <p:cNvSpPr/>
          <p:nvPr/>
        </p:nvSpPr>
        <p:spPr>
          <a:xfrm>
            <a:off x="6922008" y="1627632"/>
            <a:ext cx="73152" cy="73152"/>
          </a:xfrm>
          <a:prstGeom prst="ellipse">
            <a:avLst/>
          </a:prstGeom>
          <a:solidFill>
            <a:srgbClr val="E5E7EB"/>
          </a:solidFill>
          <a:ln>
            <a:noFill/>
          </a:ln>
        </p:spPr>
        <p:txBody>
          <a:bodyPr rtlCol="0" anchor="ctr"/>
          <a:lstStyle/>
          <a:p>
            <a:pPr algn="ctr"/>
          </a:p>
        </p:txBody>
      </p:sp>
      <p:sp>
        <p:nvSpPr>
          <p:cNvPr id="134" name="Oval 133"/>
          <p:cNvSpPr/>
          <p:nvPr/>
        </p:nvSpPr>
        <p:spPr>
          <a:xfrm>
            <a:off x="7040880" y="1627632"/>
            <a:ext cx="73152" cy="73152"/>
          </a:xfrm>
          <a:prstGeom prst="ellipse">
            <a:avLst/>
          </a:prstGeom>
          <a:solidFill>
            <a:srgbClr val="E5E7EB"/>
          </a:solidFill>
          <a:ln>
            <a:noFill/>
          </a:ln>
        </p:spPr>
        <p:txBody>
          <a:bodyPr rtlCol="0" anchor="ctr"/>
          <a:lstStyle/>
          <a:p>
            <a:pPr algn="ctr"/>
          </a:p>
        </p:txBody>
      </p:sp>
      <p:sp>
        <p:nvSpPr>
          <p:cNvPr id="135" name="Oval 134"/>
          <p:cNvSpPr/>
          <p:nvPr/>
        </p:nvSpPr>
        <p:spPr>
          <a:xfrm>
            <a:off x="7159752" y="1627632"/>
            <a:ext cx="73152" cy="73152"/>
          </a:xfrm>
          <a:prstGeom prst="ellipse">
            <a:avLst/>
          </a:prstGeom>
          <a:solidFill>
            <a:srgbClr val="E5E7EB"/>
          </a:solidFill>
          <a:ln>
            <a:noFill/>
          </a:ln>
        </p:spPr>
        <p:txBody>
          <a:bodyPr rtlCol="0" anchor="ctr"/>
          <a:lstStyle/>
          <a:p>
            <a:pPr algn="ctr"/>
          </a:p>
        </p:txBody>
      </p:sp>
      <p:sp>
        <p:nvSpPr>
          <p:cNvPr id="136" name="TextBox 135"/>
          <p:cNvSpPr txBox="1"/>
          <p:nvPr/>
        </p:nvSpPr>
        <p:spPr>
          <a:xfrm>
            <a:off x="6958584" y="1911095"/>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Overview</a:t>
            </a:r>
          </a:p>
        </p:txBody>
      </p:sp>
      <p:sp>
        <p:nvSpPr>
          <p:cNvPr id="137" name="TextBox 136"/>
          <p:cNvSpPr txBox="1"/>
          <p:nvPr/>
        </p:nvSpPr>
        <p:spPr>
          <a:xfrm>
            <a:off x="6958584" y="2167128"/>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Spend, blocked calls, policy stops and impact, live from the gateway.</a:t>
            </a:r>
          </a:p>
        </p:txBody>
      </p:sp>
      <p:sp>
        <p:nvSpPr>
          <p:cNvPr id="138" name="Govern badge"/>
          <p:cNvSpPr/>
          <p:nvPr/>
        </p:nvSpPr>
        <p:spPr>
          <a:xfrm>
            <a:off x="6958584" y="2752344"/>
            <a:ext cx="722376" cy="219456"/>
          </a:xfrm>
          <a:prstGeom prst="roundRect">
            <a:avLst>
              <a:gd name="adj" fmla="val 50000"/>
            </a:avLst>
          </a:prstGeom>
          <a:solidFill>
            <a:srgbClr val="EBF2FE"/>
          </a:solidFill>
          <a:ln>
            <a:noFill/>
          </a:ln>
        </p:spPr>
        <p:txBody>
          <a:bodyPr rtlCol="0" anchor="ctr"/>
          <a:lstStyle/>
          <a:p/>
        </p:txBody>
      </p:sp>
      <p:sp>
        <p:nvSpPr>
          <p:cNvPr id="139" name="Oval 138"/>
          <p:cNvSpPr/>
          <p:nvPr/>
        </p:nvSpPr>
        <p:spPr>
          <a:xfrm>
            <a:off x="7040880" y="2830068"/>
            <a:ext cx="64008" cy="64008"/>
          </a:xfrm>
          <a:prstGeom prst="ellipse">
            <a:avLst/>
          </a:prstGeom>
          <a:solidFill>
            <a:srgbClr val="3B82F6"/>
          </a:solidFill>
          <a:ln>
            <a:noFill/>
          </a:ln>
        </p:spPr>
        <p:txBody>
          <a:bodyPr rtlCol="0" anchor="ctr"/>
          <a:lstStyle/>
          <a:p>
            <a:pPr algn="ctr"/>
          </a:p>
        </p:txBody>
      </p:sp>
      <p:sp>
        <p:nvSpPr>
          <p:cNvPr id="140" name="TextBox 139"/>
          <p:cNvSpPr txBox="1"/>
          <p:nvPr/>
        </p:nvSpPr>
        <p:spPr>
          <a:xfrm>
            <a:off x="7141464" y="2784348"/>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41" name="People &amp; access screen"/>
          <p:cNvSpPr/>
          <p:nvPr/>
        </p:nvSpPr>
        <p:spPr>
          <a:xfrm>
            <a:off x="365760" y="3209544"/>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42" name="People &amp; access window bar"/>
          <p:cNvSpPr/>
          <p:nvPr/>
        </p:nvSpPr>
        <p:spPr>
          <a:xfrm>
            <a:off x="365760" y="3209544"/>
            <a:ext cx="1965960" cy="274320"/>
          </a:xfrm>
          <a:prstGeom prst="roundRect">
            <a:avLst>
              <a:gd name="adj" fmla="val 20000"/>
            </a:avLst>
          </a:prstGeom>
          <a:solidFill>
            <a:srgbClr val="F5F5F5"/>
          </a:solidFill>
          <a:ln>
            <a:noFill/>
          </a:ln>
        </p:spPr>
        <p:txBody>
          <a:bodyPr rtlCol="0" anchor="ctr"/>
          <a:lstStyle/>
          <a:p/>
        </p:txBody>
      </p:sp>
      <p:sp>
        <p:nvSpPr>
          <p:cNvPr id="143" name="Oval 142"/>
          <p:cNvSpPr/>
          <p:nvPr/>
        </p:nvSpPr>
        <p:spPr>
          <a:xfrm>
            <a:off x="475488" y="3310127"/>
            <a:ext cx="73152" cy="73152"/>
          </a:xfrm>
          <a:prstGeom prst="ellipse">
            <a:avLst/>
          </a:prstGeom>
          <a:solidFill>
            <a:srgbClr val="E5E7EB"/>
          </a:solidFill>
          <a:ln>
            <a:noFill/>
          </a:ln>
        </p:spPr>
        <p:txBody>
          <a:bodyPr rtlCol="0" anchor="ctr"/>
          <a:lstStyle/>
          <a:p>
            <a:pPr algn="ctr"/>
          </a:p>
        </p:txBody>
      </p:sp>
      <p:sp>
        <p:nvSpPr>
          <p:cNvPr id="144" name="Oval 143"/>
          <p:cNvSpPr/>
          <p:nvPr/>
        </p:nvSpPr>
        <p:spPr>
          <a:xfrm>
            <a:off x="594360" y="3310127"/>
            <a:ext cx="73152" cy="73152"/>
          </a:xfrm>
          <a:prstGeom prst="ellipse">
            <a:avLst/>
          </a:prstGeom>
          <a:solidFill>
            <a:srgbClr val="E5E7EB"/>
          </a:solidFill>
          <a:ln>
            <a:noFill/>
          </a:ln>
        </p:spPr>
        <p:txBody>
          <a:bodyPr rtlCol="0" anchor="ctr"/>
          <a:lstStyle/>
          <a:p>
            <a:pPr algn="ctr"/>
          </a:p>
        </p:txBody>
      </p:sp>
      <p:sp>
        <p:nvSpPr>
          <p:cNvPr id="145" name="Oval 144"/>
          <p:cNvSpPr/>
          <p:nvPr/>
        </p:nvSpPr>
        <p:spPr>
          <a:xfrm>
            <a:off x="713232" y="3310127"/>
            <a:ext cx="73152" cy="73152"/>
          </a:xfrm>
          <a:prstGeom prst="ellipse">
            <a:avLst/>
          </a:prstGeom>
          <a:solidFill>
            <a:srgbClr val="E5E7EB"/>
          </a:solidFill>
          <a:ln>
            <a:noFill/>
          </a:ln>
        </p:spPr>
        <p:txBody>
          <a:bodyPr rtlCol="0" anchor="ctr"/>
          <a:lstStyle/>
          <a:p>
            <a:pPr algn="ctr"/>
          </a:p>
        </p:txBody>
      </p:sp>
      <p:sp>
        <p:nvSpPr>
          <p:cNvPr id="146" name="TextBox 145"/>
          <p:cNvSpPr txBox="1"/>
          <p:nvPr/>
        </p:nvSpPr>
        <p:spPr>
          <a:xfrm>
            <a:off x="512064" y="3593591"/>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People &amp; access</a:t>
            </a:r>
          </a:p>
        </p:txBody>
      </p:sp>
      <p:sp>
        <p:nvSpPr>
          <p:cNvPr id="147" name="TextBox 146"/>
          <p:cNvSpPr txBox="1"/>
          <p:nvPr/>
        </p:nvSpPr>
        <p:spPr>
          <a:xfrm>
            <a:off x="512064" y="3849624"/>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Levels, models, budgets and pace per person; kill switch.</a:t>
            </a:r>
          </a:p>
        </p:txBody>
      </p:sp>
      <p:sp>
        <p:nvSpPr>
          <p:cNvPr id="148" name="Govern badge"/>
          <p:cNvSpPr/>
          <p:nvPr/>
        </p:nvSpPr>
        <p:spPr>
          <a:xfrm>
            <a:off x="512064" y="4434840"/>
            <a:ext cx="722376" cy="219456"/>
          </a:xfrm>
          <a:prstGeom prst="roundRect">
            <a:avLst>
              <a:gd name="adj" fmla="val 50000"/>
            </a:avLst>
          </a:prstGeom>
          <a:solidFill>
            <a:srgbClr val="EBF2FE"/>
          </a:solidFill>
          <a:ln>
            <a:noFill/>
          </a:ln>
        </p:spPr>
        <p:txBody>
          <a:bodyPr rtlCol="0" anchor="ctr"/>
          <a:lstStyle/>
          <a:p/>
        </p:txBody>
      </p:sp>
      <p:sp>
        <p:nvSpPr>
          <p:cNvPr id="149" name="Oval 148"/>
          <p:cNvSpPr/>
          <p:nvPr/>
        </p:nvSpPr>
        <p:spPr>
          <a:xfrm>
            <a:off x="594360" y="4512564"/>
            <a:ext cx="64008" cy="64008"/>
          </a:xfrm>
          <a:prstGeom prst="ellipse">
            <a:avLst/>
          </a:prstGeom>
          <a:solidFill>
            <a:srgbClr val="3B82F6"/>
          </a:solidFill>
          <a:ln>
            <a:noFill/>
          </a:ln>
        </p:spPr>
        <p:txBody>
          <a:bodyPr rtlCol="0" anchor="ctr"/>
          <a:lstStyle/>
          <a:p>
            <a:pPr algn="ctr"/>
          </a:p>
        </p:txBody>
      </p:sp>
      <p:sp>
        <p:nvSpPr>
          <p:cNvPr id="150" name="TextBox 149"/>
          <p:cNvSpPr txBox="1"/>
          <p:nvPr/>
        </p:nvSpPr>
        <p:spPr>
          <a:xfrm>
            <a:off x="694944" y="44668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51" name="Policy screen"/>
          <p:cNvSpPr/>
          <p:nvPr/>
        </p:nvSpPr>
        <p:spPr>
          <a:xfrm>
            <a:off x="2514600" y="3209544"/>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52" name="Policy window bar"/>
          <p:cNvSpPr/>
          <p:nvPr/>
        </p:nvSpPr>
        <p:spPr>
          <a:xfrm>
            <a:off x="2514600" y="3209544"/>
            <a:ext cx="1965960" cy="274320"/>
          </a:xfrm>
          <a:prstGeom prst="roundRect">
            <a:avLst>
              <a:gd name="adj" fmla="val 20000"/>
            </a:avLst>
          </a:prstGeom>
          <a:solidFill>
            <a:srgbClr val="F5F5F5"/>
          </a:solidFill>
          <a:ln>
            <a:noFill/>
          </a:ln>
        </p:spPr>
        <p:txBody>
          <a:bodyPr rtlCol="0" anchor="ctr"/>
          <a:lstStyle/>
          <a:p/>
        </p:txBody>
      </p:sp>
      <p:sp>
        <p:nvSpPr>
          <p:cNvPr id="153" name="Oval 152"/>
          <p:cNvSpPr/>
          <p:nvPr/>
        </p:nvSpPr>
        <p:spPr>
          <a:xfrm>
            <a:off x="2624328" y="3310127"/>
            <a:ext cx="73152" cy="73152"/>
          </a:xfrm>
          <a:prstGeom prst="ellipse">
            <a:avLst/>
          </a:prstGeom>
          <a:solidFill>
            <a:srgbClr val="E5E7EB"/>
          </a:solidFill>
          <a:ln>
            <a:noFill/>
          </a:ln>
        </p:spPr>
        <p:txBody>
          <a:bodyPr rtlCol="0" anchor="ctr"/>
          <a:lstStyle/>
          <a:p>
            <a:pPr algn="ctr"/>
          </a:p>
        </p:txBody>
      </p:sp>
      <p:sp>
        <p:nvSpPr>
          <p:cNvPr id="154" name="Oval 153"/>
          <p:cNvSpPr/>
          <p:nvPr/>
        </p:nvSpPr>
        <p:spPr>
          <a:xfrm>
            <a:off x="2743200" y="3310127"/>
            <a:ext cx="73152" cy="73152"/>
          </a:xfrm>
          <a:prstGeom prst="ellipse">
            <a:avLst/>
          </a:prstGeom>
          <a:solidFill>
            <a:srgbClr val="E5E7EB"/>
          </a:solidFill>
          <a:ln>
            <a:noFill/>
          </a:ln>
        </p:spPr>
        <p:txBody>
          <a:bodyPr rtlCol="0" anchor="ctr"/>
          <a:lstStyle/>
          <a:p>
            <a:pPr algn="ctr"/>
          </a:p>
        </p:txBody>
      </p:sp>
      <p:sp>
        <p:nvSpPr>
          <p:cNvPr id="155" name="Oval 154"/>
          <p:cNvSpPr/>
          <p:nvPr/>
        </p:nvSpPr>
        <p:spPr>
          <a:xfrm>
            <a:off x="2862072" y="3310127"/>
            <a:ext cx="73152" cy="73152"/>
          </a:xfrm>
          <a:prstGeom prst="ellipse">
            <a:avLst/>
          </a:prstGeom>
          <a:solidFill>
            <a:srgbClr val="E5E7EB"/>
          </a:solidFill>
          <a:ln>
            <a:noFill/>
          </a:ln>
        </p:spPr>
        <p:txBody>
          <a:bodyPr rtlCol="0" anchor="ctr"/>
          <a:lstStyle/>
          <a:p>
            <a:pPr algn="ctr"/>
          </a:p>
        </p:txBody>
      </p:sp>
      <p:sp>
        <p:nvSpPr>
          <p:cNvPr id="156" name="TextBox 155"/>
          <p:cNvSpPr txBox="1"/>
          <p:nvPr/>
        </p:nvSpPr>
        <p:spPr>
          <a:xfrm>
            <a:off x="2660904" y="3593591"/>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Policy</a:t>
            </a:r>
          </a:p>
        </p:txBody>
      </p:sp>
      <p:sp>
        <p:nvSpPr>
          <p:cNvPr id="157" name="TextBox 156"/>
          <p:cNvSpPr txBox="1"/>
          <p:nvPr/>
        </p:nvSpPr>
        <p:spPr>
          <a:xfrm>
            <a:off x="2660904" y="3849624"/>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Role matrix, role.yaml, and a simulator for any decision.</a:t>
            </a:r>
          </a:p>
        </p:txBody>
      </p:sp>
      <p:sp>
        <p:nvSpPr>
          <p:cNvPr id="158" name="Govern badge"/>
          <p:cNvSpPr/>
          <p:nvPr/>
        </p:nvSpPr>
        <p:spPr>
          <a:xfrm>
            <a:off x="2660904" y="4434840"/>
            <a:ext cx="722376" cy="219456"/>
          </a:xfrm>
          <a:prstGeom prst="roundRect">
            <a:avLst>
              <a:gd name="adj" fmla="val 50000"/>
            </a:avLst>
          </a:prstGeom>
          <a:solidFill>
            <a:srgbClr val="EBF2FE"/>
          </a:solidFill>
          <a:ln>
            <a:noFill/>
          </a:ln>
        </p:spPr>
        <p:txBody>
          <a:bodyPr rtlCol="0" anchor="ctr"/>
          <a:lstStyle/>
          <a:p/>
        </p:txBody>
      </p:sp>
      <p:sp>
        <p:nvSpPr>
          <p:cNvPr id="159" name="Oval 158"/>
          <p:cNvSpPr/>
          <p:nvPr/>
        </p:nvSpPr>
        <p:spPr>
          <a:xfrm>
            <a:off x="2743200" y="4512564"/>
            <a:ext cx="64008" cy="64008"/>
          </a:xfrm>
          <a:prstGeom prst="ellipse">
            <a:avLst/>
          </a:prstGeom>
          <a:solidFill>
            <a:srgbClr val="3B82F6"/>
          </a:solidFill>
          <a:ln>
            <a:noFill/>
          </a:ln>
        </p:spPr>
        <p:txBody>
          <a:bodyPr rtlCol="0" anchor="ctr"/>
          <a:lstStyle/>
          <a:p>
            <a:pPr algn="ctr"/>
          </a:p>
        </p:txBody>
      </p:sp>
      <p:sp>
        <p:nvSpPr>
          <p:cNvPr id="160" name="TextBox 159"/>
          <p:cNvSpPr txBox="1"/>
          <p:nvPr/>
        </p:nvSpPr>
        <p:spPr>
          <a:xfrm>
            <a:off x="2843784" y="44668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61" name="Audit log screen"/>
          <p:cNvSpPr/>
          <p:nvPr/>
        </p:nvSpPr>
        <p:spPr>
          <a:xfrm>
            <a:off x="4663440" y="3209544"/>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62" name="Audit log window bar"/>
          <p:cNvSpPr/>
          <p:nvPr/>
        </p:nvSpPr>
        <p:spPr>
          <a:xfrm>
            <a:off x="4663440" y="3209544"/>
            <a:ext cx="1965960" cy="274320"/>
          </a:xfrm>
          <a:prstGeom prst="roundRect">
            <a:avLst>
              <a:gd name="adj" fmla="val 20000"/>
            </a:avLst>
          </a:prstGeom>
          <a:solidFill>
            <a:srgbClr val="F5F5F5"/>
          </a:solidFill>
          <a:ln>
            <a:noFill/>
          </a:ln>
        </p:spPr>
        <p:txBody>
          <a:bodyPr rtlCol="0" anchor="ctr"/>
          <a:lstStyle/>
          <a:p/>
        </p:txBody>
      </p:sp>
      <p:sp>
        <p:nvSpPr>
          <p:cNvPr id="163" name="Oval 162"/>
          <p:cNvSpPr/>
          <p:nvPr/>
        </p:nvSpPr>
        <p:spPr>
          <a:xfrm>
            <a:off x="4773168" y="3310127"/>
            <a:ext cx="73152" cy="73152"/>
          </a:xfrm>
          <a:prstGeom prst="ellipse">
            <a:avLst/>
          </a:prstGeom>
          <a:solidFill>
            <a:srgbClr val="E5E7EB"/>
          </a:solidFill>
          <a:ln>
            <a:noFill/>
          </a:ln>
        </p:spPr>
        <p:txBody>
          <a:bodyPr rtlCol="0" anchor="ctr"/>
          <a:lstStyle/>
          <a:p>
            <a:pPr algn="ctr"/>
          </a:p>
        </p:txBody>
      </p:sp>
      <p:sp>
        <p:nvSpPr>
          <p:cNvPr id="164" name="Oval 163"/>
          <p:cNvSpPr/>
          <p:nvPr/>
        </p:nvSpPr>
        <p:spPr>
          <a:xfrm>
            <a:off x="4892040" y="3310127"/>
            <a:ext cx="73152" cy="73152"/>
          </a:xfrm>
          <a:prstGeom prst="ellipse">
            <a:avLst/>
          </a:prstGeom>
          <a:solidFill>
            <a:srgbClr val="E5E7EB"/>
          </a:solidFill>
          <a:ln>
            <a:noFill/>
          </a:ln>
        </p:spPr>
        <p:txBody>
          <a:bodyPr rtlCol="0" anchor="ctr"/>
          <a:lstStyle/>
          <a:p>
            <a:pPr algn="ctr"/>
          </a:p>
        </p:txBody>
      </p:sp>
      <p:sp>
        <p:nvSpPr>
          <p:cNvPr id="165" name="Oval 164"/>
          <p:cNvSpPr/>
          <p:nvPr/>
        </p:nvSpPr>
        <p:spPr>
          <a:xfrm>
            <a:off x="5010912" y="3310127"/>
            <a:ext cx="73152" cy="73152"/>
          </a:xfrm>
          <a:prstGeom prst="ellipse">
            <a:avLst/>
          </a:prstGeom>
          <a:solidFill>
            <a:srgbClr val="E5E7EB"/>
          </a:solidFill>
          <a:ln>
            <a:noFill/>
          </a:ln>
        </p:spPr>
        <p:txBody>
          <a:bodyPr rtlCol="0" anchor="ctr"/>
          <a:lstStyle/>
          <a:p>
            <a:pPr algn="ctr"/>
          </a:p>
        </p:txBody>
      </p:sp>
      <p:sp>
        <p:nvSpPr>
          <p:cNvPr id="166" name="TextBox 165"/>
          <p:cNvSpPr txBox="1"/>
          <p:nvPr/>
        </p:nvSpPr>
        <p:spPr>
          <a:xfrm>
            <a:off x="4809744" y="3593591"/>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Audit log</a:t>
            </a:r>
          </a:p>
        </p:txBody>
      </p:sp>
      <p:sp>
        <p:nvSpPr>
          <p:cNvPr id="167" name="TextBox 166"/>
          <p:cNvSpPr txBox="1"/>
          <p:nvPr/>
        </p:nvSpPr>
        <p:spPr>
          <a:xfrm>
            <a:off x="4809744" y="3849624"/>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Hash-chained events; verify the chain; export evidence.</a:t>
            </a:r>
          </a:p>
        </p:txBody>
      </p:sp>
      <p:sp>
        <p:nvSpPr>
          <p:cNvPr id="168" name="Govern badge"/>
          <p:cNvSpPr/>
          <p:nvPr/>
        </p:nvSpPr>
        <p:spPr>
          <a:xfrm>
            <a:off x="4809744" y="4434840"/>
            <a:ext cx="722376" cy="219456"/>
          </a:xfrm>
          <a:prstGeom prst="roundRect">
            <a:avLst>
              <a:gd name="adj" fmla="val 50000"/>
            </a:avLst>
          </a:prstGeom>
          <a:solidFill>
            <a:srgbClr val="EBF2FE"/>
          </a:solidFill>
          <a:ln>
            <a:noFill/>
          </a:ln>
        </p:spPr>
        <p:txBody>
          <a:bodyPr rtlCol="0" anchor="ctr"/>
          <a:lstStyle/>
          <a:p/>
        </p:txBody>
      </p:sp>
      <p:sp>
        <p:nvSpPr>
          <p:cNvPr id="169" name="Oval 168"/>
          <p:cNvSpPr/>
          <p:nvPr/>
        </p:nvSpPr>
        <p:spPr>
          <a:xfrm>
            <a:off x="4892040" y="4512564"/>
            <a:ext cx="64008" cy="64008"/>
          </a:xfrm>
          <a:prstGeom prst="ellipse">
            <a:avLst/>
          </a:prstGeom>
          <a:solidFill>
            <a:srgbClr val="3B82F6"/>
          </a:solidFill>
          <a:ln>
            <a:noFill/>
          </a:ln>
        </p:spPr>
        <p:txBody>
          <a:bodyPr rtlCol="0" anchor="ctr"/>
          <a:lstStyle/>
          <a:p>
            <a:pPr algn="ctr"/>
          </a:p>
        </p:txBody>
      </p:sp>
      <p:sp>
        <p:nvSpPr>
          <p:cNvPr id="170" name="TextBox 169"/>
          <p:cNvSpPr txBox="1"/>
          <p:nvPr/>
        </p:nvSpPr>
        <p:spPr>
          <a:xfrm>
            <a:off x="4992624" y="44668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71" name="Architecture screen"/>
          <p:cNvSpPr/>
          <p:nvPr/>
        </p:nvSpPr>
        <p:spPr>
          <a:xfrm>
            <a:off x="6812280" y="3209544"/>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72" name="Architecture window bar"/>
          <p:cNvSpPr/>
          <p:nvPr/>
        </p:nvSpPr>
        <p:spPr>
          <a:xfrm>
            <a:off x="6812280" y="3209544"/>
            <a:ext cx="1965960" cy="274320"/>
          </a:xfrm>
          <a:prstGeom prst="roundRect">
            <a:avLst>
              <a:gd name="adj" fmla="val 20000"/>
            </a:avLst>
          </a:prstGeom>
          <a:solidFill>
            <a:srgbClr val="F5F5F5"/>
          </a:solidFill>
          <a:ln>
            <a:noFill/>
          </a:ln>
        </p:spPr>
        <p:txBody>
          <a:bodyPr rtlCol="0" anchor="ctr"/>
          <a:lstStyle/>
          <a:p/>
        </p:txBody>
      </p:sp>
      <p:sp>
        <p:nvSpPr>
          <p:cNvPr id="173" name="Oval 172"/>
          <p:cNvSpPr/>
          <p:nvPr/>
        </p:nvSpPr>
        <p:spPr>
          <a:xfrm>
            <a:off x="6922008" y="3310127"/>
            <a:ext cx="73152" cy="73152"/>
          </a:xfrm>
          <a:prstGeom prst="ellipse">
            <a:avLst/>
          </a:prstGeom>
          <a:solidFill>
            <a:srgbClr val="E5E7EB"/>
          </a:solidFill>
          <a:ln>
            <a:noFill/>
          </a:ln>
        </p:spPr>
        <p:txBody>
          <a:bodyPr rtlCol="0" anchor="ctr"/>
          <a:lstStyle/>
          <a:p>
            <a:pPr algn="ctr"/>
          </a:p>
        </p:txBody>
      </p:sp>
      <p:sp>
        <p:nvSpPr>
          <p:cNvPr id="174" name="Oval 173"/>
          <p:cNvSpPr/>
          <p:nvPr/>
        </p:nvSpPr>
        <p:spPr>
          <a:xfrm>
            <a:off x="7040880" y="3310127"/>
            <a:ext cx="73152" cy="73152"/>
          </a:xfrm>
          <a:prstGeom prst="ellipse">
            <a:avLst/>
          </a:prstGeom>
          <a:solidFill>
            <a:srgbClr val="E5E7EB"/>
          </a:solidFill>
          <a:ln>
            <a:noFill/>
          </a:ln>
        </p:spPr>
        <p:txBody>
          <a:bodyPr rtlCol="0" anchor="ctr"/>
          <a:lstStyle/>
          <a:p>
            <a:pPr algn="ctr"/>
          </a:p>
        </p:txBody>
      </p:sp>
      <p:sp>
        <p:nvSpPr>
          <p:cNvPr id="175" name="Oval 174"/>
          <p:cNvSpPr/>
          <p:nvPr/>
        </p:nvSpPr>
        <p:spPr>
          <a:xfrm>
            <a:off x="7159752" y="3310127"/>
            <a:ext cx="73152" cy="73152"/>
          </a:xfrm>
          <a:prstGeom prst="ellipse">
            <a:avLst/>
          </a:prstGeom>
          <a:solidFill>
            <a:srgbClr val="E5E7EB"/>
          </a:solidFill>
          <a:ln>
            <a:noFill/>
          </a:ln>
        </p:spPr>
        <p:txBody>
          <a:bodyPr rtlCol="0" anchor="ctr"/>
          <a:lstStyle/>
          <a:p>
            <a:pPr algn="ctr"/>
          </a:p>
        </p:txBody>
      </p:sp>
      <p:sp>
        <p:nvSpPr>
          <p:cNvPr id="176" name="TextBox 175"/>
          <p:cNvSpPr txBox="1"/>
          <p:nvPr/>
        </p:nvSpPr>
        <p:spPr>
          <a:xfrm>
            <a:off x="6958584" y="3593591"/>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Architecture</a:t>
            </a:r>
          </a:p>
        </p:txBody>
      </p:sp>
      <p:sp>
        <p:nvSpPr>
          <p:cNvPr id="177" name="TextBox 176"/>
          <p:cNvSpPr txBox="1"/>
          <p:nvPr/>
        </p:nvSpPr>
        <p:spPr>
          <a:xfrm>
            <a:off x="6958584" y="3849624"/>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Live diagram: calls move along their real path.</a:t>
            </a:r>
          </a:p>
        </p:txBody>
      </p:sp>
      <p:sp>
        <p:nvSpPr>
          <p:cNvPr id="178" name="Govern badge"/>
          <p:cNvSpPr/>
          <p:nvPr/>
        </p:nvSpPr>
        <p:spPr>
          <a:xfrm>
            <a:off x="6958584" y="4434840"/>
            <a:ext cx="722376" cy="219456"/>
          </a:xfrm>
          <a:prstGeom prst="roundRect">
            <a:avLst>
              <a:gd name="adj" fmla="val 50000"/>
            </a:avLst>
          </a:prstGeom>
          <a:solidFill>
            <a:srgbClr val="EBF2FE"/>
          </a:solidFill>
          <a:ln>
            <a:noFill/>
          </a:ln>
        </p:spPr>
        <p:txBody>
          <a:bodyPr rtlCol="0" anchor="ctr"/>
          <a:lstStyle/>
          <a:p/>
        </p:txBody>
      </p:sp>
      <p:sp>
        <p:nvSpPr>
          <p:cNvPr id="179" name="Oval 178"/>
          <p:cNvSpPr/>
          <p:nvPr/>
        </p:nvSpPr>
        <p:spPr>
          <a:xfrm>
            <a:off x="7040880" y="4512564"/>
            <a:ext cx="64008" cy="64008"/>
          </a:xfrm>
          <a:prstGeom prst="ellipse">
            <a:avLst/>
          </a:prstGeom>
          <a:solidFill>
            <a:srgbClr val="3B82F6"/>
          </a:solidFill>
          <a:ln>
            <a:noFill/>
          </a:ln>
        </p:spPr>
        <p:txBody>
          <a:bodyPr rtlCol="0" anchor="ctr"/>
          <a:lstStyle/>
          <a:p>
            <a:pPr algn="ctr"/>
          </a:p>
        </p:txBody>
      </p:sp>
      <p:sp>
        <p:nvSpPr>
          <p:cNvPr id="180" name="TextBox 179"/>
          <p:cNvSpPr txBox="1"/>
          <p:nvPr/>
        </p:nvSpPr>
        <p:spPr>
          <a:xfrm>
            <a:off x="7141464" y="44668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Architecture as built" descr="architecture.png"/>
          <p:cNvPicPr>
            <a:picLocks noChangeAspect="1"/>
          </p:cNvPicPr>
          <p:nvPr/>
        </p:nvPicPr>
        <p:blipFill>
          <a:blip r:embed="rId5"/>
          <a:stretch>
            <a:fillRect/>
          </a:stretch>
        </p:blipFill>
        <p:spPr>
          <a:xfrm>
            <a:off x="1298310" y="1188720"/>
            <a:ext cx="6547379" cy="3401568"/>
          </a:xfrm>
          <a:prstGeom prst="rect">
            <a:avLst/>
          </a:prstGeom>
        </p:spPr>
      </p:pic>
      <p:sp>
        <p:nvSpPr>
          <p:cNvPr id="113" name="TextBox 112"/>
          <p:cNvSpPr txBox="1"/>
          <p:nvPr/>
        </p:nvSpPr>
        <p:spPr>
          <a:xfrm>
            <a:off x="365760" y="4617720"/>
            <a:ext cx="8412480" cy="274320"/>
          </a:xfrm>
          <a:prstGeom prst="rect">
            <a:avLst/>
          </a:prstGeom>
          <a:noFill/>
        </p:spPr>
        <p:txBody>
          <a:bodyPr wrap="square" lIns="0" rIns="0" tIns="0" bIns="0" anchor="t">
            <a:spAutoFit/>
          </a:bodyPr>
          <a:lstStyle/>
          <a:p>
            <a:pPr algn="ctr">
              <a:spcAft>
                <a:spcPts val="400"/>
              </a:spcAft>
            </a:pPr>
            <a:r>
              <a:rPr sz="1050">
                <a:solidFill>
                  <a:srgbClr val="111111"/>
                </a:solidFill>
                <a:latin typeface="Google Sans Flex SemiBold"/>
              </a:rPr>
              <a:t>As built on Google Cloud. </a:t>
            </a:r>
            <a:r>
              <a:rPr sz="1050">
                <a:solidFill>
                  <a:srgbClr val="6B7280"/>
                </a:solidFill>
                <a:latin typeface="Google Sans Flex"/>
              </a:rPr>
              <a:t>Only the gateway's service account may call Gemini, and every call is charged to the person's own key. Dashed: designed, not built.</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AI and agents card"/>
          <p:cNvSpPr/>
          <p:nvPr/>
        </p:nvSpPr>
        <p:spPr>
          <a:xfrm>
            <a:off x="365760" y="1207008"/>
            <a:ext cx="2679192" cy="1737360"/>
          </a:xfrm>
          <a:prstGeom prst="roundRect">
            <a:avLst>
              <a:gd name="adj" fmla="val 3157"/>
            </a:avLst>
          </a:prstGeom>
          <a:solidFill>
            <a:srgbClr val="F5F5F5"/>
          </a:solidFill>
          <a:ln>
            <a:noFill/>
          </a:ln>
        </p:spPr>
        <p:txBody>
          <a:bodyPr rtlCol="0" anchor="ctr"/>
          <a:lstStyle/>
          <a:p/>
        </p:txBody>
      </p:sp>
      <p:sp>
        <p:nvSpPr>
          <p:cNvPr id="121" name="TextBox 120"/>
          <p:cNvSpPr txBox="1"/>
          <p:nvPr/>
        </p:nvSpPr>
        <p:spPr>
          <a:xfrm>
            <a:off x="548640" y="1371600"/>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AI and agents</a:t>
            </a:r>
          </a:p>
        </p:txBody>
      </p:sp>
      <p:sp>
        <p:nvSpPr>
          <p:cNvPr id="122" name="TextBox 121"/>
          <p:cNvSpPr txBox="1"/>
          <p:nvPr/>
        </p:nvSpPr>
        <p:spPr>
          <a:xfrm>
            <a:off x="548640" y="1709928"/>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Gemini 3.8 Flash and 3.1 Pro on Vertex AI</a:t>
            </a:r>
          </a:p>
          <a:p>
            <a:pPr marL="146304" indent="-146304">
              <a:spcAft>
                <a:spcPts val="400"/>
              </a:spcAft>
              <a:buChar char="•"/>
            </a:pPr>
            <a:r>
              <a:rPr sz="1050">
                <a:solidFill>
                  <a:srgbClr val="374151"/>
                </a:solidFill>
                <a:latin typeface="Google Sans Flex"/>
              </a:rPr>
              <a:t>Agent Development Kit (ADK) 2.12</a:t>
            </a:r>
          </a:p>
          <a:p>
            <a:pPr marL="146304" indent="-146304">
              <a:spcAft>
                <a:spcPts val="400"/>
              </a:spcAft>
              <a:buChar char="•"/>
            </a:pPr>
            <a:r>
              <a:rPr sz="1050">
                <a:solidFill>
                  <a:srgbClr val="374151"/>
                </a:solidFill>
                <a:latin typeface="Google Sans Flex"/>
              </a:rPr>
              <a:t>Gemini CLI in each workspace</a:t>
            </a:r>
          </a:p>
        </p:txBody>
      </p:sp>
      <p:sp>
        <p:nvSpPr>
          <p:cNvPr id="123" name="Model gateway card"/>
          <p:cNvSpPr/>
          <p:nvPr/>
        </p:nvSpPr>
        <p:spPr>
          <a:xfrm>
            <a:off x="3227832" y="1207008"/>
            <a:ext cx="2679192" cy="1737360"/>
          </a:xfrm>
          <a:prstGeom prst="roundRect">
            <a:avLst>
              <a:gd name="adj" fmla="val 3157"/>
            </a:avLst>
          </a:prstGeom>
          <a:solidFill>
            <a:srgbClr val="F5F5F5"/>
          </a:solidFill>
          <a:ln>
            <a:noFill/>
          </a:ln>
        </p:spPr>
        <p:txBody>
          <a:bodyPr rtlCol="0" anchor="ctr"/>
          <a:lstStyle/>
          <a:p/>
        </p:txBody>
      </p:sp>
      <p:sp>
        <p:nvSpPr>
          <p:cNvPr id="124" name="TextBox 123"/>
          <p:cNvSpPr txBox="1"/>
          <p:nvPr/>
        </p:nvSpPr>
        <p:spPr>
          <a:xfrm>
            <a:off x="3410712" y="1371600"/>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Model gateway</a:t>
            </a:r>
          </a:p>
        </p:txBody>
      </p:sp>
      <p:sp>
        <p:nvSpPr>
          <p:cNvPr id="125" name="TextBox 124"/>
          <p:cNvSpPr txBox="1"/>
          <p:nvPr/>
        </p:nvSpPr>
        <p:spPr>
          <a:xfrm>
            <a:off x="3410712" y="1709928"/>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LiteLLM on Cloud Run</a:t>
            </a:r>
          </a:p>
          <a:p>
            <a:pPr marL="146304" indent="-146304">
              <a:spcAft>
                <a:spcPts val="400"/>
              </a:spcAft>
              <a:buChar char="•"/>
            </a:pPr>
            <a:r>
              <a:rPr sz="1050">
                <a:solidFill>
                  <a:srgbClr val="374151"/>
                </a:solidFill>
                <a:latin typeface="Google Sans Flex"/>
              </a:rPr>
              <a:t>Per-person keys: models, budgets, block</a:t>
            </a:r>
          </a:p>
          <a:p>
            <a:pPr marL="146304" indent="-146304">
              <a:spcAft>
                <a:spcPts val="400"/>
              </a:spcAft>
              <a:buChar char="•"/>
            </a:pPr>
            <a:r>
              <a:rPr sz="1050">
                <a:solidFill>
                  <a:srgbClr val="374151"/>
                </a:solidFill>
                <a:latin typeface="Google Sans Flex"/>
              </a:rPr>
              <a:t>Cloud SQL (Postgres 16): keys and spend</a:t>
            </a:r>
          </a:p>
        </p:txBody>
      </p:sp>
      <p:sp>
        <p:nvSpPr>
          <p:cNvPr id="126" name="App card"/>
          <p:cNvSpPr/>
          <p:nvPr/>
        </p:nvSpPr>
        <p:spPr>
          <a:xfrm>
            <a:off x="6089904" y="1207008"/>
            <a:ext cx="2679192" cy="1737360"/>
          </a:xfrm>
          <a:prstGeom prst="roundRect">
            <a:avLst>
              <a:gd name="adj" fmla="val 3157"/>
            </a:avLst>
          </a:prstGeom>
          <a:solidFill>
            <a:srgbClr val="F5F5F5"/>
          </a:solidFill>
          <a:ln>
            <a:noFill/>
          </a:ln>
        </p:spPr>
        <p:txBody>
          <a:bodyPr rtlCol="0" anchor="ctr"/>
          <a:lstStyle/>
          <a:p/>
        </p:txBody>
      </p:sp>
      <p:sp>
        <p:nvSpPr>
          <p:cNvPr id="127" name="TextBox 126"/>
          <p:cNvSpPr txBox="1"/>
          <p:nvPr/>
        </p:nvSpPr>
        <p:spPr>
          <a:xfrm>
            <a:off x="6272784" y="1371600"/>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App</a:t>
            </a:r>
          </a:p>
        </p:txBody>
      </p:sp>
      <p:sp>
        <p:nvSpPr>
          <p:cNvPr id="128" name="TextBox 127"/>
          <p:cNvSpPr txBox="1"/>
          <p:nvPr/>
        </p:nvSpPr>
        <p:spPr>
          <a:xfrm>
            <a:off x="6272784" y="1709928"/>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Cloud Run: FastAPI (Python 3.12)</a:t>
            </a:r>
          </a:p>
          <a:p>
            <a:pPr marL="146304" indent="-146304">
              <a:spcAft>
                <a:spcPts val="400"/>
              </a:spcAft>
              <a:buChar char="•"/>
            </a:pPr>
            <a:r>
              <a:rPr sz="1050">
                <a:solidFill>
                  <a:srgbClr val="374151"/>
                </a:solidFill>
                <a:latin typeface="Google Sans Flex"/>
              </a:rPr>
              <a:t>Firestore: audit chain, requests, grants</a:t>
            </a:r>
          </a:p>
          <a:p>
            <a:pPr marL="146304" indent="-146304">
              <a:spcAft>
                <a:spcPts val="400"/>
              </a:spcAft>
              <a:buChar char="•"/>
            </a:pPr>
            <a:r>
              <a:rPr sz="1050">
                <a:solidFill>
                  <a:srgbClr val="374151"/>
                </a:solidFill>
                <a:latin typeface="Google Sans Flex"/>
              </a:rPr>
              <a:t>Secret Manager for every key and token</a:t>
            </a:r>
          </a:p>
        </p:txBody>
      </p:sp>
      <p:sp>
        <p:nvSpPr>
          <p:cNvPr id="129" name="Identity and network card"/>
          <p:cNvSpPr/>
          <p:nvPr/>
        </p:nvSpPr>
        <p:spPr>
          <a:xfrm>
            <a:off x="365760" y="3108960"/>
            <a:ext cx="2679192" cy="1737360"/>
          </a:xfrm>
          <a:prstGeom prst="roundRect">
            <a:avLst>
              <a:gd name="adj" fmla="val 3157"/>
            </a:avLst>
          </a:prstGeom>
          <a:solidFill>
            <a:srgbClr val="F5F5F5"/>
          </a:solidFill>
          <a:ln>
            <a:noFill/>
          </a:ln>
        </p:spPr>
        <p:txBody>
          <a:bodyPr rtlCol="0" anchor="ctr"/>
          <a:lstStyle/>
          <a:p/>
        </p:txBody>
      </p:sp>
      <p:sp>
        <p:nvSpPr>
          <p:cNvPr id="130" name="TextBox 129"/>
          <p:cNvSpPr txBox="1"/>
          <p:nvPr/>
        </p:nvSpPr>
        <p:spPr>
          <a:xfrm>
            <a:off x="548640" y="3273552"/>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Identity and network</a:t>
            </a:r>
          </a:p>
        </p:txBody>
      </p:sp>
      <p:sp>
        <p:nvSpPr>
          <p:cNvPr id="131" name="TextBox 130"/>
          <p:cNvSpPr txBox="1"/>
          <p:nvPr/>
        </p:nvSpPr>
        <p:spPr>
          <a:xfrm>
            <a:off x="548640" y="3611880"/>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IAP + HTTPS load balancer: Google sign-in</a:t>
            </a:r>
          </a:p>
          <a:p>
            <a:pPr marL="146304" indent="-146304">
              <a:spcAft>
                <a:spcPts val="400"/>
              </a:spcAft>
              <a:buChar char="•"/>
            </a:pPr>
            <a:r>
              <a:rPr sz="1050">
                <a:solidFill>
                  <a:srgbClr val="374151"/>
                </a:solidFill>
                <a:latin typeface="Google Sans Flex"/>
              </a:rPr>
              <a:t>IAP TCP tunnel to Coder, no VPN</a:t>
            </a:r>
          </a:p>
          <a:p>
            <a:pPr marL="146304" indent="-146304">
              <a:spcAft>
                <a:spcPts val="400"/>
              </a:spcAft>
              <a:buChar char="•"/>
            </a:pPr>
            <a:r>
              <a:rPr sz="1050">
                <a:solidFill>
                  <a:srgbClr val="374151"/>
                </a:solidFill>
                <a:latin typeface="Google Sans Flex"/>
              </a:rPr>
              <a:t>VPC private subnet + Cloud NAT</a:t>
            </a:r>
          </a:p>
        </p:txBody>
      </p:sp>
      <p:sp>
        <p:nvSpPr>
          <p:cNvPr id="132" name="Developer workspace card"/>
          <p:cNvSpPr/>
          <p:nvPr/>
        </p:nvSpPr>
        <p:spPr>
          <a:xfrm>
            <a:off x="3227832" y="3108960"/>
            <a:ext cx="2679192" cy="1737360"/>
          </a:xfrm>
          <a:prstGeom prst="roundRect">
            <a:avLst>
              <a:gd name="adj" fmla="val 3157"/>
            </a:avLst>
          </a:prstGeom>
          <a:solidFill>
            <a:srgbClr val="F5F5F5"/>
          </a:solidFill>
          <a:ln>
            <a:noFill/>
          </a:ln>
        </p:spPr>
        <p:txBody>
          <a:bodyPr rtlCol="0" anchor="ctr"/>
          <a:lstStyle/>
          <a:p/>
        </p:txBody>
      </p:sp>
      <p:sp>
        <p:nvSpPr>
          <p:cNvPr id="133" name="TextBox 132"/>
          <p:cNvSpPr txBox="1"/>
          <p:nvPr/>
        </p:nvSpPr>
        <p:spPr>
          <a:xfrm>
            <a:off x="3410712" y="3273552"/>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Developer workspace</a:t>
            </a:r>
          </a:p>
        </p:txBody>
      </p:sp>
      <p:sp>
        <p:nvSpPr>
          <p:cNvPr id="134" name="TextBox 133"/>
          <p:cNvSpPr txBox="1"/>
          <p:nvPr/>
        </p:nvSpPr>
        <p:spPr>
          <a:xfrm>
            <a:off x="3410712" y="3611880"/>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Coder on Compute Engine, no public IP</a:t>
            </a:r>
          </a:p>
          <a:p>
            <a:pPr marL="146304" indent="-146304">
              <a:spcAft>
                <a:spcPts val="400"/>
              </a:spcAft>
              <a:buChar char="•"/>
            </a:pPr>
            <a:r>
              <a:rPr sz="1050">
                <a:solidFill>
                  <a:srgbClr val="374151"/>
                </a:solidFill>
                <a:latin typeface="Google Sans Flex"/>
              </a:rPr>
              <a:t>Terraform template, VS Code in the browser</a:t>
            </a:r>
          </a:p>
          <a:p>
            <a:pPr marL="146304" indent="-146304">
              <a:spcAft>
                <a:spcPts val="400"/>
              </a:spcAft>
              <a:buChar char="•"/>
            </a:pPr>
            <a:r>
              <a:rPr sz="1050">
                <a:solidFill>
                  <a:srgbClr val="374151"/>
                </a:solidFill>
                <a:latin typeface="Google Sans Flex"/>
              </a:rPr>
              <a:t>Relay adds the VM's identity to calls</a:t>
            </a:r>
          </a:p>
        </p:txBody>
      </p:sp>
      <p:sp>
        <p:nvSpPr>
          <p:cNvPr id="135" name="Delivery and UI card"/>
          <p:cNvSpPr/>
          <p:nvPr/>
        </p:nvSpPr>
        <p:spPr>
          <a:xfrm>
            <a:off x="6089904" y="3108960"/>
            <a:ext cx="2679192" cy="1737360"/>
          </a:xfrm>
          <a:prstGeom prst="roundRect">
            <a:avLst>
              <a:gd name="adj" fmla="val 3157"/>
            </a:avLst>
          </a:prstGeom>
          <a:solidFill>
            <a:srgbClr val="F5F5F5"/>
          </a:solidFill>
          <a:ln>
            <a:noFill/>
          </a:ln>
        </p:spPr>
        <p:txBody>
          <a:bodyPr rtlCol="0" anchor="ctr"/>
          <a:lstStyle/>
          <a:p/>
        </p:txBody>
      </p:sp>
      <p:sp>
        <p:nvSpPr>
          <p:cNvPr id="136" name="TextBox 135"/>
          <p:cNvSpPr txBox="1"/>
          <p:nvPr/>
        </p:nvSpPr>
        <p:spPr>
          <a:xfrm>
            <a:off x="6272784" y="3273552"/>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Delivery and UI</a:t>
            </a:r>
          </a:p>
        </p:txBody>
      </p:sp>
      <p:sp>
        <p:nvSpPr>
          <p:cNvPr id="137" name="TextBox 136"/>
          <p:cNvSpPr txBox="1"/>
          <p:nvPr/>
        </p:nvSpPr>
        <p:spPr>
          <a:xfrm>
            <a:off x="6272784" y="3611880"/>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GitHub pull requests, Actions CI check</a:t>
            </a:r>
          </a:p>
          <a:p>
            <a:pPr marL="146304" indent="-146304">
              <a:spcAft>
                <a:spcPts val="400"/>
              </a:spcAft>
              <a:buChar char="•"/>
            </a:pPr>
            <a:r>
              <a:rPr sz="1050">
                <a:solidFill>
                  <a:srgbClr val="374151"/>
                </a:solidFill>
                <a:latin typeface="Google Sans Flex"/>
              </a:rPr>
              <a:t>Branch protection: one human review</a:t>
            </a:r>
          </a:p>
          <a:p>
            <a:pPr marL="146304" indent="-146304">
              <a:spcAft>
                <a:spcPts val="400"/>
              </a:spcAft>
              <a:buChar char="•"/>
            </a:pPr>
            <a:r>
              <a:rPr sz="1050">
                <a:solidFill>
                  <a:srgbClr val="374151"/>
                </a:solidFill>
                <a:latin typeface="Google Sans Flex"/>
              </a:rPr>
              <a:t>Vanilla JS app shell, strict CSP; Playwright tests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graphicFrame>
        <p:nvGraphicFramePr>
          <p:cNvPr id="128" name="Table 127"/>
          <p:cNvGraphicFramePr>
            <a:graphicFrameLocks noGrp="1"/>
          </p:cNvGraphicFramePr>
          <p:nvPr/>
        </p:nvGraphicFramePr>
        <p:xfrm>
          <a:off x="365760" y="1207008"/>
          <a:ext cx="5486400" cy="2633472"/>
        </p:xfrm>
        <a:graphic>
          <a:graphicData uri="http://schemas.openxmlformats.org/drawingml/2006/table">
            <a:tbl>
              <a:tblPr firstRow="1" bandRow="1">
                <a:tableStyleId>{5C22544A-7EE6-4342-B048-85BDC9FD1C3A}</a:tableStyleId>
              </a:tblPr>
              <a:tblGrid>
                <a:gridCol w="1920240"/>
                <a:gridCol w="2514600"/>
                <a:gridCol w="1051560"/>
              </a:tblGrid>
              <a:tr h="329184">
                <a:tc>
                  <a:txBody>
                    <a:bodyPr/>
                    <a:lstStyle/>
                    <a:p>
                      <a:pPr algn="l"/>
                      <a:r>
                        <a:rPr sz="1050">
                          <a:solidFill>
                            <a:srgbClr val="FFFFFF"/>
                          </a:solidFill>
                          <a:latin typeface="Google Sans Flex SemiBold"/>
                        </a:rPr>
                        <a:t>Component</a:t>
                      </a:r>
                    </a:p>
                  </a:txBody>
                  <a:tcPr marL="73152" marR="73152" marT="36576" marB="36576">
                    <a:solidFill>
                      <a:srgbClr val="111111"/>
                    </a:solidFill>
                  </a:tcPr>
                </a:tc>
                <a:tc>
                  <a:txBody>
                    <a:bodyPr/>
                    <a:lstStyle/>
                    <a:p>
                      <a:pPr algn="l"/>
                      <a:r>
                        <a:rPr sz="1050">
                          <a:solidFill>
                            <a:srgbClr val="FFFFFF"/>
                          </a:solidFill>
                          <a:latin typeface="Google Sans Flex SemiBold"/>
                        </a:rPr>
                        <a:t>Sizing</a:t>
                      </a:r>
                    </a:p>
                  </a:txBody>
                  <a:tcPr marL="73152" marR="73152" marT="36576" marB="36576">
                    <a:solidFill>
                      <a:srgbClr val="111111"/>
                    </a:solidFill>
                  </a:tcPr>
                </a:tc>
                <a:tc>
                  <a:txBody>
                    <a:bodyPr/>
                    <a:lstStyle/>
                    <a:p>
                      <a:pPr algn="r"/>
                      <a:r>
                        <a:rPr sz="1050">
                          <a:solidFill>
                            <a:srgbClr val="FFFFFF"/>
                          </a:solidFill>
                          <a:latin typeface="Google Sans Flex SemiBold"/>
                        </a:rPr>
                        <a:t>≈ per month</a:t>
                      </a:r>
                    </a:p>
                  </a:txBody>
                  <a:tcPr marL="73152" marR="73152" marT="36576" marB="36576">
                    <a:solidFill>
                      <a:srgbClr val="111111"/>
                    </a:solidFill>
                  </a:tcPr>
                </a:tc>
              </a:tr>
              <a:tr h="329184">
                <a:tc>
                  <a:txBody>
                    <a:bodyPr/>
                    <a:lstStyle/>
                    <a:p>
                      <a:pPr algn="l"/>
                      <a:r>
                        <a:rPr sz="1050">
                          <a:solidFill>
                            <a:srgbClr val="111111"/>
                          </a:solidFill>
                          <a:latin typeface="Google Sans Flex SemiBold"/>
                        </a:rPr>
                        <a:t>Coder workspace VM</a:t>
                      </a:r>
                    </a:p>
                  </a:txBody>
                  <a:tcPr marL="73152" marR="73152" marT="36576" marB="36576">
                    <a:solidFill>
                      <a:srgbClr val="FFFFFF"/>
                    </a:solidFill>
                  </a:tcPr>
                </a:tc>
                <a:tc>
                  <a:txBody>
                    <a:bodyPr/>
                    <a:lstStyle/>
                    <a:p>
                      <a:pPr algn="l"/>
                      <a:r>
                        <a:rPr sz="1050">
                          <a:solidFill>
                            <a:srgbClr val="374151"/>
                          </a:solidFill>
                          <a:latin typeface="Google Sans Flex"/>
                        </a:rPr>
                        <a:t>e2-standard-4, always on</a:t>
                      </a:r>
                    </a:p>
                  </a:txBody>
                  <a:tcPr marL="73152" marR="73152" marT="36576" marB="36576">
                    <a:solidFill>
                      <a:srgbClr val="FFFFFF"/>
                    </a:solidFill>
                  </a:tcPr>
                </a:tc>
                <a:tc>
                  <a:txBody>
                    <a:bodyPr/>
                    <a:lstStyle/>
                    <a:p>
                      <a:pPr algn="r"/>
                      <a:r>
                        <a:rPr sz="1050">
                          <a:solidFill>
                            <a:srgbClr val="111111"/>
                          </a:solidFill>
                          <a:latin typeface="Google Sans Flex"/>
                        </a:rPr>
                        <a:t>$98</a:t>
                      </a:r>
                    </a:p>
                  </a:txBody>
                  <a:tcPr marL="73152" marR="73152" marT="36576" marB="36576">
                    <a:solidFill>
                      <a:srgbClr val="FFFFFF"/>
                    </a:solidFill>
                  </a:tcPr>
                </a:tc>
              </a:tr>
              <a:tr h="329184">
                <a:tc>
                  <a:txBody>
                    <a:bodyPr/>
                    <a:lstStyle/>
                    <a:p>
                      <a:pPr algn="l"/>
                      <a:r>
                        <a:rPr sz="1050">
                          <a:solidFill>
                            <a:srgbClr val="111111"/>
                          </a:solidFill>
                          <a:latin typeface="Google Sans Flex SemiBold"/>
                        </a:rPr>
                        <a:t>Model gateway</a:t>
                      </a:r>
                    </a:p>
                  </a:txBody>
                  <a:tcPr marL="73152" marR="73152" marT="36576" marB="36576">
                    <a:solidFill>
                      <a:srgbClr val="FFFFFF"/>
                    </a:solidFill>
                  </a:tcPr>
                </a:tc>
                <a:tc>
                  <a:txBody>
                    <a:bodyPr/>
                    <a:lstStyle/>
                    <a:p>
                      <a:pPr algn="l"/>
                      <a:r>
                        <a:rPr sz="1050">
                          <a:solidFill>
                            <a:srgbClr val="374151"/>
                          </a:solidFill>
                          <a:latin typeface="Google Sans Flex"/>
                        </a:rPr>
                        <a:t>Cloud Run, 1 vCPU, 2 GiB, always on</a:t>
                      </a:r>
                    </a:p>
                  </a:txBody>
                  <a:tcPr marL="73152" marR="73152" marT="36576" marB="36576">
                    <a:solidFill>
                      <a:srgbClr val="FFFFFF"/>
                    </a:solidFill>
                  </a:tcPr>
                </a:tc>
                <a:tc>
                  <a:txBody>
                    <a:bodyPr/>
                    <a:lstStyle/>
                    <a:p>
                      <a:pPr algn="r"/>
                      <a:r>
                        <a:rPr sz="1050">
                          <a:solidFill>
                            <a:srgbClr val="111111"/>
                          </a:solidFill>
                          <a:latin typeface="Google Sans Flex"/>
                        </a:rPr>
                        <a:t>$58</a:t>
                      </a:r>
                    </a:p>
                  </a:txBody>
                  <a:tcPr marL="73152" marR="73152" marT="36576" marB="36576">
                    <a:solidFill>
                      <a:srgbClr val="FFFFFF"/>
                    </a:solidFill>
                  </a:tcPr>
                </a:tc>
              </a:tr>
              <a:tr h="329184">
                <a:tc>
                  <a:txBody>
                    <a:bodyPr/>
                    <a:lstStyle/>
                    <a:p>
                      <a:pPr algn="l"/>
                      <a:r>
                        <a:rPr sz="1050">
                          <a:solidFill>
                            <a:srgbClr val="111111"/>
                          </a:solidFill>
                          <a:latin typeface="Google Sans Flex SemiBold"/>
                        </a:rPr>
                        <a:t>RoleSpace app</a:t>
                      </a:r>
                    </a:p>
                  </a:txBody>
                  <a:tcPr marL="73152" marR="73152" marT="36576" marB="36576">
                    <a:solidFill>
                      <a:srgbClr val="FFFFFF"/>
                    </a:solidFill>
                  </a:tcPr>
                </a:tc>
                <a:tc>
                  <a:txBody>
                    <a:bodyPr/>
                    <a:lstStyle/>
                    <a:p>
                      <a:pPr algn="l"/>
                      <a:r>
                        <a:rPr sz="1050">
                          <a:solidFill>
                            <a:srgbClr val="374151"/>
                          </a:solidFill>
                          <a:latin typeface="Google Sans Flex"/>
                        </a:rPr>
                        <a:t>Cloud Run, one warm instance</a:t>
                      </a:r>
                    </a:p>
                  </a:txBody>
                  <a:tcPr marL="73152" marR="73152" marT="36576" marB="36576">
                    <a:solidFill>
                      <a:srgbClr val="FFFFFF"/>
                    </a:solidFill>
                  </a:tcPr>
                </a:tc>
                <a:tc>
                  <a:txBody>
                    <a:bodyPr/>
                    <a:lstStyle/>
                    <a:p>
                      <a:pPr algn="r"/>
                      <a:r>
                        <a:rPr sz="1050">
                          <a:solidFill>
                            <a:srgbClr val="111111"/>
                          </a:solidFill>
                          <a:latin typeface="Google Sans Flex"/>
                        </a:rPr>
                        <a:t>$15–25</a:t>
                      </a:r>
                    </a:p>
                  </a:txBody>
                  <a:tcPr marL="73152" marR="73152" marT="36576" marB="36576">
                    <a:solidFill>
                      <a:srgbClr val="FFFFFF"/>
                    </a:solidFill>
                  </a:tcPr>
                </a:tc>
              </a:tr>
              <a:tr h="329184">
                <a:tc>
                  <a:txBody>
                    <a:bodyPr/>
                    <a:lstStyle/>
                    <a:p>
                      <a:pPr algn="l"/>
                      <a:r>
                        <a:rPr sz="1050">
                          <a:solidFill>
                            <a:srgbClr val="111111"/>
                          </a:solidFill>
                          <a:latin typeface="Google Sans Flex SemiBold"/>
                        </a:rPr>
                        <a:t>Load balancer + IAP</a:t>
                      </a:r>
                    </a:p>
                  </a:txBody>
                  <a:tcPr marL="73152" marR="73152" marT="36576" marB="36576">
                    <a:solidFill>
                      <a:srgbClr val="FFFFFF"/>
                    </a:solidFill>
                  </a:tcPr>
                </a:tc>
                <a:tc>
                  <a:txBody>
                    <a:bodyPr/>
                    <a:lstStyle/>
                    <a:p>
                      <a:pPr algn="l"/>
                      <a:r>
                        <a:rPr sz="1050">
                          <a:solidFill>
                            <a:srgbClr val="374151"/>
                          </a:solidFill>
                          <a:latin typeface="Google Sans Flex"/>
                        </a:rPr>
                        <a:t>One HTTPS forwarding rule</a:t>
                      </a:r>
                    </a:p>
                  </a:txBody>
                  <a:tcPr marL="73152" marR="73152" marT="36576" marB="36576">
                    <a:solidFill>
                      <a:srgbClr val="FFFFFF"/>
                    </a:solidFill>
                  </a:tcPr>
                </a:tc>
                <a:tc>
                  <a:txBody>
                    <a:bodyPr/>
                    <a:lstStyle/>
                    <a:p>
                      <a:pPr algn="r"/>
                      <a:r>
                        <a:rPr sz="1050">
                          <a:solidFill>
                            <a:srgbClr val="111111"/>
                          </a:solidFill>
                          <a:latin typeface="Google Sans Flex"/>
                        </a:rPr>
                        <a:t>$18</a:t>
                      </a:r>
                    </a:p>
                  </a:txBody>
                  <a:tcPr marL="73152" marR="73152" marT="36576" marB="36576">
                    <a:solidFill>
                      <a:srgbClr val="FFFFFF"/>
                    </a:solidFill>
                  </a:tcPr>
                </a:tc>
              </a:tr>
              <a:tr h="329184">
                <a:tc>
                  <a:txBody>
                    <a:bodyPr/>
                    <a:lstStyle/>
                    <a:p>
                      <a:pPr algn="l"/>
                      <a:r>
                        <a:rPr sz="1050">
                          <a:solidFill>
                            <a:srgbClr val="111111"/>
                          </a:solidFill>
                          <a:latin typeface="Google Sans Flex SemiBold"/>
                        </a:rPr>
                        <a:t>Cloud SQL</a:t>
                      </a:r>
                    </a:p>
                  </a:txBody>
                  <a:tcPr marL="73152" marR="73152" marT="36576" marB="36576">
                    <a:solidFill>
                      <a:srgbClr val="FFFFFF"/>
                    </a:solidFill>
                  </a:tcPr>
                </a:tc>
                <a:tc>
                  <a:txBody>
                    <a:bodyPr/>
                    <a:lstStyle/>
                    <a:p>
                      <a:pPr algn="l"/>
                      <a:r>
                        <a:rPr sz="1050">
                          <a:solidFill>
                            <a:srgbClr val="374151"/>
                          </a:solidFill>
                          <a:latin typeface="Google Sans Flex"/>
                        </a:rPr>
                        <a:t>db-f1-micro, 10 GB</a:t>
                      </a:r>
                    </a:p>
                  </a:txBody>
                  <a:tcPr marL="73152" marR="73152" marT="36576" marB="36576">
                    <a:solidFill>
                      <a:srgbClr val="FFFFFF"/>
                    </a:solidFill>
                  </a:tcPr>
                </a:tc>
                <a:tc>
                  <a:txBody>
                    <a:bodyPr/>
                    <a:lstStyle/>
                    <a:p>
                      <a:pPr algn="r"/>
                      <a:r>
                        <a:rPr sz="1050">
                          <a:solidFill>
                            <a:srgbClr val="111111"/>
                          </a:solidFill>
                          <a:latin typeface="Google Sans Flex"/>
                        </a:rPr>
                        <a:t>$10</a:t>
                      </a:r>
                    </a:p>
                  </a:txBody>
                  <a:tcPr marL="73152" marR="73152" marT="36576" marB="36576">
                    <a:solidFill>
                      <a:srgbClr val="FFFFFF"/>
                    </a:solidFill>
                  </a:tcPr>
                </a:tc>
              </a:tr>
              <a:tr h="329184">
                <a:tc>
                  <a:txBody>
                    <a:bodyPr/>
                    <a:lstStyle/>
                    <a:p>
                      <a:pPr algn="l"/>
                      <a:r>
                        <a:rPr sz="1050">
                          <a:solidFill>
                            <a:srgbClr val="111111"/>
                          </a:solidFill>
                          <a:latin typeface="Google Sans Flex SemiBold"/>
                        </a:rPr>
                        <a:t>NAT, Firestore, logs</a:t>
                      </a:r>
                    </a:p>
                  </a:txBody>
                  <a:tcPr marL="73152" marR="73152" marT="36576" marB="36576">
                    <a:solidFill>
                      <a:srgbClr val="FFFFFF"/>
                    </a:solidFill>
                  </a:tcPr>
                </a:tc>
                <a:tc>
                  <a:txBody>
                    <a:bodyPr/>
                    <a:lstStyle/>
                    <a:p>
                      <a:pPr algn="l"/>
                      <a:r>
                        <a:rPr sz="1050">
                          <a:solidFill>
                            <a:srgbClr val="374151"/>
                          </a:solidFill>
                          <a:latin typeface="Google Sans Flex"/>
                        </a:rPr>
                        <a:t>Light use</a:t>
                      </a:r>
                    </a:p>
                  </a:txBody>
                  <a:tcPr marL="73152" marR="73152" marT="36576" marB="36576">
                    <a:solidFill>
                      <a:srgbClr val="FFFFFF"/>
                    </a:solidFill>
                  </a:tcPr>
                </a:tc>
                <a:tc>
                  <a:txBody>
                    <a:bodyPr/>
                    <a:lstStyle/>
                    <a:p>
                      <a:pPr algn="r"/>
                      <a:r>
                        <a:rPr sz="1050">
                          <a:solidFill>
                            <a:srgbClr val="111111"/>
                          </a:solidFill>
                          <a:latin typeface="Google Sans Flex"/>
                        </a:rPr>
                        <a:t>&lt; $5</a:t>
                      </a:r>
                    </a:p>
                  </a:txBody>
                  <a:tcPr marL="73152" marR="73152" marT="36576" marB="36576">
                    <a:solidFill>
                      <a:srgbClr val="FFFFFF"/>
                    </a:solidFill>
                  </a:tcPr>
                </a:tc>
              </a:tr>
              <a:tr h="329184">
                <a:tc>
                  <a:txBody>
                    <a:bodyPr/>
                    <a:lstStyle/>
                    <a:p>
                      <a:pPr algn="l"/>
                      <a:r>
                        <a:rPr sz="1050">
                          <a:solidFill>
                            <a:srgbClr val="111111"/>
                          </a:solidFill>
                          <a:latin typeface="Google Sans Flex SemiBold"/>
                        </a:rPr>
                        <a:t>Infrastructure total</a:t>
                      </a:r>
                    </a:p>
                  </a:txBody>
                  <a:tcPr marL="73152" marR="73152" marT="36576" marB="36576">
                    <a:solidFill>
                      <a:srgbClr val="F5F5F5"/>
                    </a:solidFill>
                  </a:tcPr>
                </a:tc>
                <a:tc>
                  <a:txBody>
                    <a:bodyPr/>
                    <a:lstStyle/>
                    <a:p>
                      <a:pPr algn="l"/>
                      <a:r>
                        <a:rPr sz="1050">
                          <a:solidFill>
                            <a:srgbClr val="374151"/>
                          </a:solidFill>
                          <a:latin typeface="Google Sans Flex SemiBold"/>
                        </a:rPr>
                        <a:t/>
                      </a:r>
                    </a:p>
                  </a:txBody>
                  <a:tcPr marL="73152" marR="73152" marT="36576" marB="36576">
                    <a:solidFill>
                      <a:srgbClr val="F5F5F5"/>
                    </a:solidFill>
                  </a:tcPr>
                </a:tc>
                <a:tc>
                  <a:txBody>
                    <a:bodyPr/>
                    <a:lstStyle/>
                    <a:p>
                      <a:pPr algn="r"/>
                      <a:r>
                        <a:rPr sz="1050">
                          <a:solidFill>
                            <a:srgbClr val="111111"/>
                          </a:solidFill>
                          <a:latin typeface="Google Sans Flex SemiBold"/>
                        </a:rPr>
                        <a:t>≈ $205–215</a:t>
                      </a:r>
                    </a:p>
                  </a:txBody>
                  <a:tcPr marL="73152" marR="73152" marT="36576" marB="36576">
                    <a:solidFill>
                      <a:srgbClr val="F5F5F5"/>
                    </a:solidFill>
                  </a:tcPr>
                </a:tc>
              </a:tr>
            </a:tbl>
          </a:graphicData>
        </a:graphic>
      </p:graphicFrame>
      <p:sp>
        <p:nvSpPr>
          <p:cNvPr id="129" name="TextBox 128"/>
          <p:cNvSpPr txBox="1"/>
          <p:nvPr/>
        </p:nvSpPr>
        <p:spPr>
          <a:xfrm>
            <a:off x="365760" y="3977639"/>
            <a:ext cx="5486400" cy="868680"/>
          </a:xfrm>
          <a:prstGeom prst="rect">
            <a:avLst/>
          </a:prstGeom>
          <a:noFill/>
        </p:spPr>
        <p:txBody>
          <a:bodyPr wrap="square" lIns="0" rIns="0" tIns="0" bIns="0" anchor="t">
            <a:spAutoFit/>
          </a:bodyPr>
          <a:lstStyle/>
          <a:p>
            <a:pPr algn="l">
              <a:spcAft>
                <a:spcPts val="300"/>
              </a:spcAft>
            </a:pPr>
            <a:r>
              <a:rPr sz="1000">
                <a:solidFill>
                  <a:srgbClr val="6B7280"/>
                </a:solidFill>
                <a:latin typeface="Google Sans Flex"/>
              </a:rPr>
              <a:t>List prices in us-central1, approximate: check them in the Google Cloud pricing calculator.</a:t>
            </a:r>
          </a:p>
          <a:p>
            <a:pPr algn="l">
              <a:spcAft>
                <a:spcPts val="300"/>
              </a:spcAft>
            </a:pPr>
            <a:r>
              <a:rPr sz="1000">
                <a:solidFill>
                  <a:srgbClr val="111111"/>
                </a:solidFill>
                <a:latin typeface="Google Sans Flex SemiBold"/>
              </a:rPr>
              <a:t>Biggest savings: </a:t>
            </a:r>
            <a:r>
              <a:rPr sz="1000">
                <a:solidFill>
                  <a:srgbClr val="6B7280"/>
                </a:solidFill>
                <a:latin typeface="Google Sans Flex"/>
              </a:rPr>
              <a:t>stop the VM out of hours (about two-thirds less), or move to Cloud Workstations per person.</a:t>
            </a:r>
          </a:p>
        </p:txBody>
      </p:sp>
      <p:sp>
        <p:nvSpPr>
          <p:cNvPr id="130" name="≈ 1¢ stat"/>
          <p:cNvSpPr/>
          <p:nvPr/>
        </p:nvSpPr>
        <p:spPr>
          <a:xfrm>
            <a:off x="6126480" y="1207008"/>
            <a:ext cx="2651760" cy="1115568"/>
          </a:xfrm>
          <a:prstGeom prst="roundRect">
            <a:avLst>
              <a:gd name="adj" fmla="val 4918"/>
            </a:avLst>
          </a:prstGeom>
          <a:solidFill>
            <a:srgbClr val="F5F5F5"/>
          </a:solidFill>
          <a:ln>
            <a:noFill/>
          </a:ln>
        </p:spPr>
        <p:txBody>
          <a:bodyPr rtlCol="0" anchor="ctr"/>
          <a:lstStyle/>
          <a:p/>
        </p:txBody>
      </p:sp>
      <p:sp>
        <p:nvSpPr>
          <p:cNvPr id="131" name="TextBox 130"/>
          <p:cNvSpPr txBox="1"/>
          <p:nvPr/>
        </p:nvSpPr>
        <p:spPr>
          <a:xfrm>
            <a:off x="6309360" y="1335024"/>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 1¢</a:t>
            </a:r>
          </a:p>
        </p:txBody>
      </p:sp>
      <p:sp>
        <p:nvSpPr>
          <p:cNvPr id="132" name="TextBox 131"/>
          <p:cNvSpPr txBox="1"/>
          <p:nvPr/>
        </p:nvSpPr>
        <p:spPr>
          <a:xfrm>
            <a:off x="6309360" y="1810512"/>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model cost per answered question (measured)</a:t>
            </a:r>
          </a:p>
        </p:txBody>
      </p:sp>
      <p:sp>
        <p:nvSpPr>
          <p:cNvPr id="133" name="$0.13 stat"/>
          <p:cNvSpPr/>
          <p:nvPr/>
        </p:nvSpPr>
        <p:spPr>
          <a:xfrm>
            <a:off x="6126480" y="2450592"/>
            <a:ext cx="2651760" cy="1115568"/>
          </a:xfrm>
          <a:prstGeom prst="roundRect">
            <a:avLst>
              <a:gd name="adj" fmla="val 4918"/>
            </a:avLst>
          </a:prstGeom>
          <a:solidFill>
            <a:srgbClr val="F5F5F5"/>
          </a:solidFill>
          <a:ln>
            <a:noFill/>
          </a:ln>
        </p:spPr>
        <p:txBody>
          <a:bodyPr rtlCol="0" anchor="ctr"/>
          <a:lstStyle/>
          <a:p/>
        </p:txBody>
      </p:sp>
      <p:sp>
        <p:nvSpPr>
          <p:cNvPr id="134" name="TextBox 133"/>
          <p:cNvSpPr txBox="1"/>
          <p:nvPr/>
        </p:nvSpPr>
        <p:spPr>
          <a:xfrm>
            <a:off x="6309360" y="2578608"/>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$0.13</a:t>
            </a:r>
          </a:p>
        </p:txBody>
      </p:sp>
      <p:sp>
        <p:nvSpPr>
          <p:cNvPr id="135" name="TextBox 134"/>
          <p:cNvSpPr txBox="1"/>
          <p:nvPr/>
        </p:nvSpPr>
        <p:spPr>
          <a:xfrm>
            <a:off x="6309360" y="3054096"/>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for a full evaluation run: 10 questions and 9 attacks</a:t>
            </a:r>
          </a:p>
        </p:txBody>
      </p:sp>
      <p:sp>
        <p:nvSpPr>
          <p:cNvPr id="136" name="$1–10 stat"/>
          <p:cNvSpPr/>
          <p:nvPr/>
        </p:nvSpPr>
        <p:spPr>
          <a:xfrm>
            <a:off x="6126480" y="3694176"/>
            <a:ext cx="2651760" cy="1115568"/>
          </a:xfrm>
          <a:prstGeom prst="roundRect">
            <a:avLst>
              <a:gd name="adj" fmla="val 4918"/>
            </a:avLst>
          </a:prstGeom>
          <a:solidFill>
            <a:srgbClr val="F5F5F5"/>
          </a:solidFill>
          <a:ln>
            <a:noFill/>
          </a:ln>
        </p:spPr>
        <p:txBody>
          <a:bodyPr rtlCol="0" anchor="ctr"/>
          <a:lstStyle/>
          <a:p/>
        </p:txBody>
      </p:sp>
      <p:sp>
        <p:nvSpPr>
          <p:cNvPr id="137" name="TextBox 136"/>
          <p:cNvSpPr txBox="1"/>
          <p:nvPr/>
        </p:nvSpPr>
        <p:spPr>
          <a:xfrm>
            <a:off x="6309360" y="3822191"/>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$1–10</a:t>
            </a:r>
          </a:p>
        </p:txBody>
      </p:sp>
      <p:sp>
        <p:nvSpPr>
          <p:cNvPr id="138" name="TextBox 137"/>
          <p:cNvSpPr txBox="1"/>
          <p:nvPr/>
        </p:nvSpPr>
        <p:spPr>
          <a:xfrm>
            <a:off x="6309360" y="4297680"/>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monthly AI budget per person, set by level and enforced by the gateway</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Ask: a verified answer" descr="app-maya.png"/>
          <p:cNvPicPr>
            <a:picLocks noChangeAspect="1"/>
          </p:cNvPicPr>
          <p:nvPr/>
        </p:nvPicPr>
        <p:blipFill>
          <a:blip r:embed="rId5"/>
          <a:stretch>
            <a:fillRect/>
          </a:stretch>
        </p:blipFill>
        <p:spPr>
          <a:xfrm>
            <a:off x="365760" y="1207008"/>
            <a:ext cx="4069080" cy="2543175"/>
          </a:xfrm>
          <a:prstGeom prst="rect">
            <a:avLst/>
          </a:prstGeom>
          <a:ln w="9525">
            <a:solidFill>
              <a:srgbClr val="E5E7EB"/>
            </a:solidFill>
          </a:ln>
        </p:spPr>
      </p:pic>
      <p:sp>
        <p:nvSpPr>
          <p:cNvPr id="137" name="TextBox 136"/>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Ask: a verified answer</a:t>
            </a:r>
          </a:p>
        </p:txBody>
      </p:sp>
      <p:sp>
        <p:nvSpPr>
          <p:cNvPr id="138" name="TextBox 137"/>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Maya asks how a score is calculated. Every citation links to the exact lines and is checked by code; her access, tools and budget sit on the right.</a:t>
            </a:r>
          </a:p>
        </p:txBody>
      </p:sp>
      <p:pic>
        <p:nvPicPr>
          <p:cNvPr id="139" name="Suggest: an edit becomes a pull request" descr="app-leo.png"/>
          <p:cNvPicPr>
            <a:picLocks noChangeAspect="1"/>
          </p:cNvPicPr>
          <p:nvPr/>
        </p:nvPicPr>
        <p:blipFill>
          <a:blip r:embed="rId6"/>
          <a:stretch>
            <a:fillRect/>
          </a:stretch>
        </p:blipFill>
        <p:spPr>
          <a:xfrm>
            <a:off x="4709160" y="1207008"/>
            <a:ext cx="4069080" cy="2543175"/>
          </a:xfrm>
          <a:prstGeom prst="rect">
            <a:avLst/>
          </a:prstGeom>
          <a:ln w="9525">
            <a:solidFill>
              <a:srgbClr val="E5E7EB"/>
            </a:solidFill>
          </a:ln>
        </p:spPr>
      </p:pic>
      <p:sp>
        <p:nvSpPr>
          <p:cNvPr id="140" name="TextBox 139"/>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Suggest: an edit becomes a pull request</a:t>
            </a:r>
          </a:p>
        </p:txBody>
      </p:sp>
      <p:sp>
        <p:nvSpPr>
          <p:cNvPr id="141" name="TextBox 140"/>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Leo asks for the new brand colour. He reviews the diff; Open pull request creates a real PR with a CI check and one human review.</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 (continued)</a:t>
            </a:r>
            <a:endParaRPr sz="1600">
              <a:latin typeface="Google Sans Flex Medium"/>
              <a:ea typeface="Google Sans Flex Medium"/>
              <a:cs typeface="Google Sans Flex Medium"/>
              <a:sym typeface="Google Sans Flex Medium"/>
            </a:endParaRPr>
          </a:p>
        </p:txBody>
      </p:sp>
      <p:pic>
        <p:nvPicPr>
          <p:cNvPr id="136" name="Every decision explains itself" descr="app-leo-denied.png"/>
          <p:cNvPicPr>
            <a:picLocks noChangeAspect="1"/>
          </p:cNvPicPr>
          <p:nvPr/>
        </p:nvPicPr>
        <p:blipFill>
          <a:blip r:embed="rId2"/>
          <a:stretch>
            <a:fillRect/>
          </a:stretch>
        </p:blipFill>
        <p:spPr>
          <a:xfrm>
            <a:off x="365760" y="1207008"/>
            <a:ext cx="4069080" cy="2543175"/>
          </a:xfrm>
          <a:prstGeom prst="rect">
            <a:avLst/>
          </a:prstGeom>
          <a:ln w="9525">
            <a:solidFill>
              <a:srgbClr val="E5E7EB"/>
            </a:solidFill>
          </a:ln>
        </p:spPr>
      </p:pic>
      <p:sp>
        <p:nvSpPr>
          <p:cNvPr id="137" name="TextBox 136"/>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Every decision explains itself</a:t>
            </a:r>
          </a:p>
        </p:txBody>
      </p:sp>
      <p:sp>
        <p:nvSpPr>
          <p:cNvPr id="138" name="TextBox 137"/>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Leo's edit to lib/score.mjs is denied by policy. He sees each check in order, the rule that decided and the role.yaml version.</a:t>
            </a:r>
          </a:p>
        </p:txBody>
      </p:sp>
      <p:pic>
        <p:nvPicPr>
          <p:cNvPr id="139" name="Govern: spend, control and impact" descr="app-govern.png"/>
          <p:cNvPicPr>
            <a:picLocks noChangeAspect="1"/>
          </p:cNvPicPr>
          <p:nvPr/>
        </p:nvPicPr>
        <p:blipFill>
          <a:blip r:embed="rId5"/>
          <a:stretch>
            <a:fillRect/>
          </a:stretch>
        </p:blipFill>
        <p:spPr>
          <a:xfrm>
            <a:off x="4709160" y="1207008"/>
            <a:ext cx="4069080" cy="2543175"/>
          </a:xfrm>
          <a:prstGeom prst="rect">
            <a:avLst/>
          </a:prstGeom>
          <a:ln w="9525">
            <a:solidFill>
              <a:srgbClr val="E5E7EB"/>
            </a:solidFill>
          </a:ln>
        </p:spPr>
      </p:pic>
      <p:sp>
        <p:nvSpPr>
          <p:cNvPr id="140" name="TextBox 139"/>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Govern: spend, control and impact</a:t>
            </a:r>
          </a:p>
        </p:txBody>
      </p:sp>
      <p:sp>
        <p:nvSpPr>
          <p:cNvPr id="141" name="TextBox 140"/>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Spend and blocked calls from the gateway, policy stops, questions answered without a developer, and budget used per person.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10/10 stat"/>
          <p:cNvSpPr/>
          <p:nvPr/>
        </p:nvSpPr>
        <p:spPr>
          <a:xfrm>
            <a:off x="365760" y="1207008"/>
            <a:ext cx="1965960" cy="960120"/>
          </a:xfrm>
          <a:prstGeom prst="roundRect">
            <a:avLst>
              <a:gd name="adj" fmla="val 5714"/>
            </a:avLst>
          </a:prstGeom>
          <a:solidFill>
            <a:srgbClr val="F5F5F5"/>
          </a:solidFill>
          <a:ln>
            <a:noFill/>
          </a:ln>
        </p:spPr>
        <p:txBody>
          <a:bodyPr rtlCol="0" anchor="ctr"/>
          <a:lstStyle/>
          <a:p/>
        </p:txBody>
      </p:sp>
      <p:sp>
        <p:nvSpPr>
          <p:cNvPr id="145" name="TextBox 144"/>
          <p:cNvSpPr txBox="1"/>
          <p:nvPr/>
        </p:nvSpPr>
        <p:spPr>
          <a:xfrm>
            <a:off x="53035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10/10</a:t>
            </a:r>
          </a:p>
        </p:txBody>
      </p:sp>
      <p:sp>
        <p:nvSpPr>
          <p:cNvPr id="146" name="TextBox 145"/>
          <p:cNvSpPr txBox="1"/>
          <p:nvPr/>
        </p:nvSpPr>
        <p:spPr>
          <a:xfrm>
            <a:off x="53035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questions answered from the expected file</a:t>
            </a:r>
          </a:p>
        </p:txBody>
      </p:sp>
      <p:sp>
        <p:nvSpPr>
          <p:cNvPr id="147" name="92/92 stat"/>
          <p:cNvSpPr/>
          <p:nvPr/>
        </p:nvSpPr>
        <p:spPr>
          <a:xfrm>
            <a:off x="2514600" y="1207008"/>
            <a:ext cx="1965960" cy="960120"/>
          </a:xfrm>
          <a:prstGeom prst="roundRect">
            <a:avLst>
              <a:gd name="adj" fmla="val 5714"/>
            </a:avLst>
          </a:prstGeom>
          <a:solidFill>
            <a:srgbClr val="F5F5F5"/>
          </a:solidFill>
          <a:ln>
            <a:noFill/>
          </a:ln>
        </p:spPr>
        <p:txBody>
          <a:bodyPr rtlCol="0" anchor="ctr"/>
          <a:lstStyle/>
          <a:p/>
        </p:txBody>
      </p:sp>
      <p:sp>
        <p:nvSpPr>
          <p:cNvPr id="148" name="TextBox 147"/>
          <p:cNvSpPr txBox="1"/>
          <p:nvPr/>
        </p:nvSpPr>
        <p:spPr>
          <a:xfrm>
            <a:off x="267919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92/92</a:t>
            </a:r>
          </a:p>
        </p:txBody>
      </p:sp>
      <p:sp>
        <p:nvSpPr>
          <p:cNvPr id="149" name="TextBox 148"/>
          <p:cNvSpPr txBox="1"/>
          <p:nvPr/>
        </p:nvSpPr>
        <p:spPr>
          <a:xfrm>
            <a:off x="267919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citations verified: every cited line was read</a:t>
            </a:r>
          </a:p>
        </p:txBody>
      </p:sp>
      <p:sp>
        <p:nvSpPr>
          <p:cNvPr id="150" name="12.2 s stat"/>
          <p:cNvSpPr/>
          <p:nvPr/>
        </p:nvSpPr>
        <p:spPr>
          <a:xfrm>
            <a:off x="4663440" y="1207008"/>
            <a:ext cx="1965960" cy="960120"/>
          </a:xfrm>
          <a:prstGeom prst="roundRect">
            <a:avLst>
              <a:gd name="adj" fmla="val 5714"/>
            </a:avLst>
          </a:prstGeom>
          <a:solidFill>
            <a:srgbClr val="F5F5F5"/>
          </a:solidFill>
          <a:ln>
            <a:noFill/>
          </a:ln>
        </p:spPr>
        <p:txBody>
          <a:bodyPr rtlCol="0" anchor="ctr"/>
          <a:lstStyle/>
          <a:p/>
        </p:txBody>
      </p:sp>
      <p:sp>
        <p:nvSpPr>
          <p:cNvPr id="151" name="TextBox 150"/>
          <p:cNvSpPr txBox="1"/>
          <p:nvPr/>
        </p:nvSpPr>
        <p:spPr>
          <a:xfrm>
            <a:off x="482803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12.2 s</a:t>
            </a:r>
          </a:p>
        </p:txBody>
      </p:sp>
      <p:sp>
        <p:nvSpPr>
          <p:cNvPr id="152" name="TextBox 151"/>
          <p:cNvSpPr txBox="1"/>
          <p:nvPr/>
        </p:nvSpPr>
        <p:spPr>
          <a:xfrm>
            <a:off x="482803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median answer time (Gemini Flash via the gateway)</a:t>
            </a:r>
          </a:p>
        </p:txBody>
      </p:sp>
      <p:sp>
        <p:nvSpPr>
          <p:cNvPr id="153" name="10/10 stat"/>
          <p:cNvSpPr/>
          <p:nvPr/>
        </p:nvSpPr>
        <p:spPr>
          <a:xfrm>
            <a:off x="6812280" y="1207008"/>
            <a:ext cx="1965960" cy="960120"/>
          </a:xfrm>
          <a:prstGeom prst="roundRect">
            <a:avLst>
              <a:gd name="adj" fmla="val 5714"/>
            </a:avLst>
          </a:prstGeom>
          <a:solidFill>
            <a:srgbClr val="F5F5F5"/>
          </a:solidFill>
          <a:ln>
            <a:noFill/>
          </a:ln>
        </p:spPr>
        <p:txBody>
          <a:bodyPr rtlCol="0" anchor="ctr"/>
          <a:lstStyle/>
          <a:p/>
        </p:txBody>
      </p:sp>
      <p:sp>
        <p:nvSpPr>
          <p:cNvPr id="154" name="TextBox 153"/>
          <p:cNvSpPr txBox="1"/>
          <p:nvPr/>
        </p:nvSpPr>
        <p:spPr>
          <a:xfrm>
            <a:off x="697687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10/10</a:t>
            </a:r>
          </a:p>
        </p:txBody>
      </p:sp>
      <p:sp>
        <p:nvSpPr>
          <p:cNvPr id="155" name="TextBox 154"/>
          <p:cNvSpPr txBox="1"/>
          <p:nvPr/>
        </p:nvSpPr>
        <p:spPr>
          <a:xfrm>
            <a:off x="697687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attacks stopped, each by a named layer</a:t>
            </a:r>
          </a:p>
        </p:txBody>
      </p:sp>
      <p:graphicFrame>
        <p:nvGraphicFramePr>
          <p:cNvPr id="156" name="Table 155"/>
          <p:cNvGraphicFramePr>
            <a:graphicFrameLocks noGrp="1"/>
          </p:cNvGraphicFramePr>
          <p:nvPr/>
        </p:nvGraphicFramePr>
        <p:xfrm>
          <a:off x="365760" y="2331720"/>
          <a:ext cx="4114799" cy="1700784"/>
        </p:xfrm>
        <a:graphic>
          <a:graphicData uri="http://schemas.openxmlformats.org/drawingml/2006/table">
            <a:tbl>
              <a:tblPr firstRow="1" bandRow="1">
                <a:tableStyleId>{5C22544A-7EE6-4342-B048-85BDC9FD1C3A}</a:tableStyleId>
              </a:tblPr>
              <a:tblGrid>
                <a:gridCol w="2240280"/>
                <a:gridCol w="1874519"/>
              </a:tblGrid>
              <a:tr h="283464">
                <a:tc>
                  <a:txBody>
                    <a:bodyPr/>
                    <a:lstStyle/>
                    <a:p>
                      <a:r>
                        <a:rPr sz="950">
                          <a:solidFill>
                            <a:srgbClr val="FFFFFF"/>
                          </a:solidFill>
                          <a:latin typeface="Google Sans Flex SemiBold"/>
                        </a:rPr>
                        <a:t>Attack</a:t>
                      </a:r>
                    </a:p>
                  </a:txBody>
                  <a:tcPr marL="64008" marR="64008" marT="27432" marB="27432">
                    <a:solidFill>
                      <a:srgbClr val="111111"/>
                    </a:solidFill>
                  </a:tcPr>
                </a:tc>
                <a:tc>
                  <a:txBody>
                    <a:bodyPr/>
                    <a:lstStyle/>
                    <a:p>
                      <a:r>
                        <a:rPr sz="950">
                          <a:solidFill>
                            <a:srgbClr val="FFFFFF"/>
                          </a:solidFill>
                          <a:latin typeface="Google Sans Flex SemiBold"/>
                        </a:rPr>
                        <a:t>Stopped by</a:t>
                      </a:r>
                    </a:p>
                  </a:txBody>
                  <a:tcPr marL="64008" marR="64008" marT="27432" marB="27432">
                    <a:solidFill>
                      <a:srgbClr val="111111"/>
                    </a:solidFill>
                  </a:tcPr>
                </a:tc>
              </a:tr>
              <a:tr h="283464">
                <a:tc>
                  <a:txBody>
                    <a:bodyPr/>
                    <a:lstStyle/>
                    <a:p>
                      <a:r>
                        <a:rPr sz="950">
                          <a:solidFill>
                            <a:srgbClr val="111111"/>
                          </a:solidFill>
                          <a:latin typeface="Google Sans Flex"/>
                        </a:rPr>
                        <a:t>Planted prompt injection in a repo file</a:t>
                      </a:r>
                    </a:p>
                  </a:txBody>
                  <a:tcPr marL="64008" marR="64008" marT="27432" marB="27432">
                    <a:solidFill>
                      <a:srgbClr val="FFFFFF"/>
                    </a:solidFill>
                  </a:tcPr>
                </a:tc>
                <a:tc>
                  <a:txBody>
                    <a:bodyPr/>
                    <a:lstStyle/>
                    <a:p>
                      <a:r>
                        <a:rPr sz="950">
                          <a:solidFill>
                            <a:srgbClr val="047857"/>
                          </a:solidFill>
                          <a:latin typeface="Google Sans Flex"/>
                        </a:rPr>
                        <a:t>Agent treats file text as data</a:t>
                      </a:r>
                    </a:p>
                  </a:txBody>
                  <a:tcPr marL="64008" marR="64008" marT="27432" marB="27432">
                    <a:solidFill>
                      <a:srgbClr val="FFFFFF"/>
                    </a:solidFill>
                  </a:tcPr>
                </a:tc>
              </a:tr>
              <a:tr h="283464">
                <a:tc>
                  <a:txBody>
                    <a:bodyPr/>
                    <a:lstStyle/>
                    <a:p>
                      <a:r>
                        <a:rPr sz="950">
                          <a:solidFill>
                            <a:srgbClr val="111111"/>
                          </a:solidFill>
                          <a:latin typeface="Google Sans Flex"/>
                        </a:rPr>
                        <a:t>PM asks for a code change</a:t>
                      </a:r>
                    </a:p>
                  </a:txBody>
                  <a:tcPr marL="64008" marR="64008" marT="27432" marB="27432">
                    <a:solidFill>
                      <a:srgbClr val="FFFFFF"/>
                    </a:solidFill>
                  </a:tcPr>
                </a:tc>
                <a:tc>
                  <a:txBody>
                    <a:bodyPr/>
                    <a:lstStyle/>
                    <a:p>
                      <a:r>
                        <a:rPr sz="950">
                          <a:solidFill>
                            <a:srgbClr val="047857"/>
                          </a:solidFill>
                          <a:latin typeface="Google Sans Flex"/>
                        </a:rPr>
                        <a:t>Ask level has no write tool</a:t>
                      </a:r>
                    </a:p>
                  </a:txBody>
                  <a:tcPr marL="64008" marR="64008" marT="27432" marB="27432">
                    <a:solidFill>
                      <a:srgbClr val="FFFFFF"/>
                    </a:solidFill>
                  </a:tcPr>
                </a:tc>
              </a:tr>
              <a:tr h="283464">
                <a:tc>
                  <a:txBody>
                    <a:bodyPr/>
                    <a:lstStyle/>
                    <a:p>
                      <a:r>
                        <a:rPr sz="950">
                          <a:solidFill>
                            <a:srgbClr val="111111"/>
                          </a:solidFill>
                          <a:latin typeface="Google Sans Flex"/>
                        </a:rPr>
                        <a:t>Designer edits server.mjs</a:t>
                      </a:r>
                    </a:p>
                  </a:txBody>
                  <a:tcPr marL="64008" marR="64008" marT="27432" marB="27432">
                    <a:solidFill>
                      <a:srgbClr val="FFFFFF"/>
                    </a:solidFill>
                  </a:tcPr>
                </a:tc>
                <a:tc>
                  <a:txBody>
                    <a:bodyPr/>
                    <a:lstStyle/>
                    <a:p>
                      <a:r>
                        <a:rPr sz="950">
                          <a:solidFill>
                            <a:srgbClr val="047857"/>
                          </a:solidFill>
                          <a:latin typeface="Google Sans Flex"/>
                        </a:rPr>
                        <a:t>Path allow-list in code</a:t>
                      </a:r>
                    </a:p>
                  </a:txBody>
                  <a:tcPr marL="64008" marR="64008" marT="27432" marB="27432">
                    <a:solidFill>
                      <a:srgbClr val="FFFFFF"/>
                    </a:solidFill>
                  </a:tcPr>
                </a:tc>
              </a:tr>
              <a:tr h="283464">
                <a:tc>
                  <a:txBody>
                    <a:bodyPr/>
                    <a:lstStyle/>
                    <a:p>
                      <a:r>
                        <a:rPr sz="950">
                          <a:solidFill>
                            <a:srgbClr val="111111"/>
                          </a:solidFill>
                          <a:latin typeface="Google Sans Flex"/>
                        </a:rPr>
                        <a:t>Edit via public/css/../../lib/score.mjs</a:t>
                      </a:r>
                    </a:p>
                  </a:txBody>
                  <a:tcPr marL="64008" marR="64008" marT="27432" marB="27432">
                    <a:solidFill>
                      <a:srgbClr val="FFFFFF"/>
                    </a:solidFill>
                  </a:tcPr>
                </a:tc>
                <a:tc>
                  <a:txBody>
                    <a:bodyPr/>
                    <a:lstStyle/>
                    <a:p>
                      <a:r>
                        <a:rPr sz="950">
                          <a:solidFill>
                            <a:srgbClr val="047857"/>
                          </a:solidFill>
                          <a:latin typeface="Google Sans Flex"/>
                        </a:rPr>
                        <a:t>Path check refuses '..'</a:t>
                      </a:r>
                    </a:p>
                  </a:txBody>
                  <a:tcPr marL="64008" marR="64008" marT="27432" marB="27432">
                    <a:solidFill>
                      <a:srgbClr val="FFFFFF"/>
                    </a:solidFill>
                  </a:tcPr>
                </a:tc>
              </a:tr>
              <a:tr h="283464">
                <a:tc>
                  <a:txBody>
                    <a:bodyPr/>
                    <a:lstStyle/>
                    <a:p>
                      <a:r>
                        <a:rPr sz="950">
                          <a:solidFill>
                            <a:srgbClr val="111111"/>
                          </a:solidFill>
                          <a:latin typeface="Google Sans Flex"/>
                        </a:rPr>
                        <a:t>Designer over budget</a:t>
                      </a:r>
                    </a:p>
                  </a:txBody>
                  <a:tcPr marL="64008" marR="64008" marT="27432" marB="27432">
                    <a:solidFill>
                      <a:srgbClr val="FFFFFF"/>
                    </a:solidFill>
                  </a:tcPr>
                </a:tc>
                <a:tc>
                  <a:txBody>
                    <a:bodyPr/>
                    <a:lstStyle/>
                    <a:p>
                      <a:r>
                        <a:rPr sz="950">
                          <a:solidFill>
                            <a:srgbClr val="047857"/>
                          </a:solidFill>
                          <a:latin typeface="Google Sans Flex"/>
                        </a:rPr>
                        <a:t>Gateway budget on the key</a:t>
                      </a:r>
                    </a:p>
                  </a:txBody>
                  <a:tcPr marL="64008" marR="64008" marT="27432" marB="27432">
                    <a:solidFill>
                      <a:srgbClr val="FFFFFF"/>
                    </a:solidFill>
                  </a:tcPr>
                </a:tc>
              </a:tr>
            </a:tbl>
          </a:graphicData>
        </a:graphic>
      </p:graphicFrame>
      <p:graphicFrame>
        <p:nvGraphicFramePr>
          <p:cNvPr id="157" name="Table 156"/>
          <p:cNvGraphicFramePr>
            <a:graphicFrameLocks noGrp="1"/>
          </p:cNvGraphicFramePr>
          <p:nvPr/>
        </p:nvGraphicFramePr>
        <p:xfrm>
          <a:off x="4663440" y="2331720"/>
          <a:ext cx="4114799" cy="1700784"/>
        </p:xfrm>
        <a:graphic>
          <a:graphicData uri="http://schemas.openxmlformats.org/drawingml/2006/table">
            <a:tbl>
              <a:tblPr firstRow="1" bandRow="1">
                <a:tableStyleId>{5C22544A-7EE6-4342-B048-85BDC9FD1C3A}</a:tableStyleId>
              </a:tblPr>
              <a:tblGrid>
                <a:gridCol w="2240280"/>
                <a:gridCol w="1874519"/>
              </a:tblGrid>
              <a:tr h="283464">
                <a:tc>
                  <a:txBody>
                    <a:bodyPr/>
                    <a:lstStyle/>
                    <a:p>
                      <a:r>
                        <a:rPr sz="950">
                          <a:solidFill>
                            <a:srgbClr val="FFFFFF"/>
                          </a:solidFill>
                          <a:latin typeface="Google Sans Flex SemiBold"/>
                        </a:rPr>
                        <a:t>Attack</a:t>
                      </a:r>
                    </a:p>
                  </a:txBody>
                  <a:tcPr marL="64008" marR="64008" marT="27432" marB="27432">
                    <a:solidFill>
                      <a:srgbClr val="111111"/>
                    </a:solidFill>
                  </a:tcPr>
                </a:tc>
                <a:tc>
                  <a:txBody>
                    <a:bodyPr/>
                    <a:lstStyle/>
                    <a:p>
                      <a:r>
                        <a:rPr sz="950">
                          <a:solidFill>
                            <a:srgbClr val="FFFFFF"/>
                          </a:solidFill>
                          <a:latin typeface="Google Sans Flex SemiBold"/>
                        </a:rPr>
                        <a:t>Stopped by</a:t>
                      </a:r>
                    </a:p>
                  </a:txBody>
                  <a:tcPr marL="64008" marR="64008" marT="27432" marB="27432">
                    <a:solidFill>
                      <a:srgbClr val="111111"/>
                    </a:solidFill>
                  </a:tcPr>
                </a:tc>
              </a:tr>
              <a:tr h="283464">
                <a:tc>
                  <a:txBody>
                    <a:bodyPr/>
                    <a:lstStyle/>
                    <a:p>
                      <a:r>
                        <a:rPr sz="950">
                          <a:solidFill>
                            <a:srgbClr val="111111"/>
                          </a:solidFill>
                          <a:latin typeface="Google Sans Flex"/>
                        </a:rPr>
                        <a:t>Request for secrets</a:t>
                      </a:r>
                    </a:p>
                  </a:txBody>
                  <a:tcPr marL="64008" marR="64008" marT="27432" marB="27432">
                    <a:solidFill>
                      <a:srgbClr val="FFFFFF"/>
                    </a:solidFill>
                  </a:tcPr>
                </a:tc>
                <a:tc>
                  <a:txBody>
                    <a:bodyPr/>
                    <a:lstStyle/>
                    <a:p>
                      <a:r>
                        <a:rPr sz="950">
                          <a:solidFill>
                            <a:srgbClr val="047857"/>
                          </a:solidFill>
                          <a:latin typeface="Google Sans Flex"/>
                        </a:rPr>
                        <a:t>Secrets only in Secret Manager</a:t>
                      </a:r>
                    </a:p>
                  </a:txBody>
                  <a:tcPr marL="64008" marR="64008" marT="27432" marB="27432">
                    <a:solidFill>
                      <a:srgbClr val="FFFFFF"/>
                    </a:solidFill>
                  </a:tcPr>
                </a:tc>
              </a:tr>
              <a:tr h="283464">
                <a:tc>
                  <a:txBody>
                    <a:bodyPr/>
                    <a:lstStyle/>
                    <a:p>
                      <a:r>
                        <a:rPr sz="950">
                          <a:solidFill>
                            <a:srgbClr val="111111"/>
                          </a:solidFill>
                          <a:latin typeface="Google Sans Flex"/>
                        </a:rPr>
                        <a:t>PM calls a model not on her key</a:t>
                      </a:r>
                    </a:p>
                  </a:txBody>
                  <a:tcPr marL="64008" marR="64008" marT="27432" marB="27432">
                    <a:solidFill>
                      <a:srgbClr val="FFFFFF"/>
                    </a:solidFill>
                  </a:tcPr>
                </a:tc>
                <a:tc>
                  <a:txBody>
                    <a:bodyPr/>
                    <a:lstStyle/>
                    <a:p>
                      <a:r>
                        <a:rPr sz="950">
                          <a:solidFill>
                            <a:srgbClr val="047857"/>
                          </a:solidFill>
                          <a:latin typeface="Google Sans Flex"/>
                        </a:rPr>
                        <a:t>Gateway key: 403</a:t>
                      </a:r>
                    </a:p>
                  </a:txBody>
                  <a:tcPr marL="64008" marR="64008" marT="27432" marB="27432">
                    <a:solidFill>
                      <a:srgbClr val="FFFFFF"/>
                    </a:solidFill>
                  </a:tcPr>
                </a:tc>
              </a:tr>
              <a:tr h="283464">
                <a:tc>
                  <a:txBody>
                    <a:bodyPr/>
                    <a:lstStyle/>
                    <a:p>
                      <a:r>
                        <a:rPr sz="950">
                          <a:solidFill>
                            <a:srgbClr val="111111"/>
                          </a:solidFill>
                          <a:latin typeface="Google Sans Flex"/>
                        </a:rPr>
                        <a:t>A key mints itself a new key</a:t>
                      </a:r>
                    </a:p>
                  </a:txBody>
                  <a:tcPr marL="64008" marR="64008" marT="27432" marB="27432">
                    <a:solidFill>
                      <a:srgbClr val="FFFFFF"/>
                    </a:solidFill>
                  </a:tcPr>
                </a:tc>
                <a:tc>
                  <a:txBody>
                    <a:bodyPr/>
                    <a:lstStyle/>
                    <a:p>
                      <a:r>
                        <a:rPr sz="950">
                          <a:solidFill>
                            <a:srgbClr val="047857"/>
                          </a:solidFill>
                          <a:latin typeface="Google Sans Flex"/>
                        </a:rPr>
                        <a:t>Key limited to model routes: 403</a:t>
                      </a:r>
                    </a:p>
                  </a:txBody>
                  <a:tcPr marL="64008" marR="64008" marT="27432" marB="27432">
                    <a:solidFill>
                      <a:srgbClr val="FFFFFF"/>
                    </a:solidFill>
                  </a:tcPr>
                </a:tc>
              </a:tr>
              <a:tr h="283464">
                <a:tc>
                  <a:txBody>
                    <a:bodyPr/>
                    <a:lstStyle/>
                    <a:p>
                      <a:r>
                        <a:rPr sz="950">
                          <a:solidFill>
                            <a:srgbClr val="111111"/>
                          </a:solidFill>
                          <a:latin typeface="Google Sans Flex"/>
                        </a:rPr>
                        <a:t>Workspace calls Vertex AI directly</a:t>
                      </a:r>
                    </a:p>
                  </a:txBody>
                  <a:tcPr marL="64008" marR="64008" marT="27432" marB="27432">
                    <a:solidFill>
                      <a:srgbClr val="FFFFFF"/>
                    </a:solidFill>
                  </a:tcPr>
                </a:tc>
                <a:tc>
                  <a:txBody>
                    <a:bodyPr/>
                    <a:lstStyle/>
                    <a:p>
                      <a:r>
                        <a:rPr sz="950">
                          <a:solidFill>
                            <a:srgbClr val="047857"/>
                          </a:solidFill>
                          <a:latin typeface="Google Sans Flex"/>
                        </a:rPr>
                        <a:t>IAM: no Vertex AI role, 403</a:t>
                      </a:r>
                    </a:p>
                  </a:txBody>
                  <a:tcPr marL="64008" marR="64008" marT="27432" marB="27432">
                    <a:solidFill>
                      <a:srgbClr val="FFFFFF"/>
                    </a:solidFill>
                  </a:tcPr>
                </a:tc>
              </a:tr>
              <a:tr h="283464">
                <a:tc>
                  <a:txBody>
                    <a:bodyPr/>
                    <a:lstStyle/>
                    <a:p>
                      <a:r>
                        <a:rPr sz="950">
                          <a:solidFill>
                            <a:srgbClr val="111111"/>
                          </a:solidFill>
                          <a:latin typeface="Google Sans Flex"/>
                        </a:rPr>
                        <a:t>Bot PR touching lib/score.mjs</a:t>
                      </a:r>
                    </a:p>
                  </a:txBody>
                  <a:tcPr marL="64008" marR="64008" marT="27432" marB="27432">
                    <a:solidFill>
                      <a:srgbClr val="FFFFFF"/>
                    </a:solidFill>
                  </a:tcPr>
                </a:tc>
                <a:tc>
                  <a:txBody>
                    <a:bodyPr/>
                    <a:lstStyle/>
                    <a:p>
                      <a:r>
                        <a:rPr sz="950">
                          <a:solidFill>
                            <a:srgbClr val="047857"/>
                          </a:solidFill>
                          <a:latin typeface="Google Sans Flex"/>
                        </a:rPr>
                        <a:t>CI allow-list check fails</a:t>
                      </a:r>
                    </a:p>
                  </a:txBody>
                  <a:tcPr marL="64008" marR="64008" marT="27432" marB="27432">
                    <a:solidFill>
                      <a:srgbClr val="FFFFFF"/>
                    </a:solidFill>
                  </a:tcPr>
                </a:tc>
              </a:tr>
            </a:tbl>
          </a:graphicData>
        </a:graphic>
      </p:graphicFrame>
      <p:sp>
        <p:nvSpPr>
          <p:cNvPr id="158" name="TextBox 157"/>
          <p:cNvSpPr txBox="1"/>
          <p:nvPr/>
        </p:nvSpPr>
        <p:spPr>
          <a:xfrm>
            <a:off x="365760" y="4206240"/>
            <a:ext cx="8412480" cy="640080"/>
          </a:xfrm>
          <a:prstGeom prst="rect">
            <a:avLst/>
          </a:prstGeom>
          <a:noFill/>
        </p:spPr>
        <p:txBody>
          <a:bodyPr wrap="square" lIns="0" rIns="0" tIns="0" bIns="0" anchor="t">
            <a:spAutoFit/>
          </a:bodyPr>
          <a:lstStyle/>
          <a:p>
            <a:pPr algn="l">
              <a:spcAft>
                <a:spcPts val="300"/>
              </a:spcAft>
            </a:pPr>
            <a:r>
              <a:rPr sz="1000">
                <a:solidFill>
                  <a:srgbClr val="111111"/>
                </a:solidFill>
                <a:latin typeface="Google Sans Flex SemiBold"/>
              </a:rPr>
              <a:t>How it was measured: </a:t>
            </a:r>
            <a:r>
              <a:rPr sz="1000">
                <a:solidFill>
                  <a:srgbClr val="6B7280"/>
                </a:solidFill>
                <a:latin typeface="Google Sans Flex"/>
              </a:rPr>
              <a:t>eval/run_eval.py against the deployed build's code, on the real gateway, Gemini and Coder VM, 17 Oct 2026; $0.13 for the run. Earlier runs: 105/105 and 103/103 citations.</a:t>
            </a:r>
          </a:p>
          <a:p>
            <a:pPr algn="l">
              <a:spcAft>
                <a:spcPts val="300"/>
              </a:spcAft>
            </a:pPr>
            <a:r>
              <a:rPr sz="1000">
                <a:solidFill>
                  <a:srgbClr val="111111"/>
                </a:solidFill>
                <a:latin typeface="Google Sans Flex SemiBold"/>
              </a:rPr>
              <a:t>Limits: </a:t>
            </a:r>
            <a:r>
              <a:rPr sz="1000">
                <a:solidFill>
                  <a:srgbClr val="6B7280"/>
                </a:solidFill>
                <a:latin typeface="Google Sans Flex"/>
              </a:rPr>
              <a:t>a small sample; the checker proves where a citation points, not that the sentence is right.</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Identity card"/>
          <p:cNvSpPr/>
          <p:nvPr/>
        </p:nvSpPr>
        <p:spPr>
          <a:xfrm>
            <a:off x="365760" y="1207008"/>
            <a:ext cx="2679192" cy="987552"/>
          </a:xfrm>
          <a:prstGeom prst="roundRect">
            <a:avLst>
              <a:gd name="adj" fmla="val 5555"/>
            </a:avLst>
          </a:prstGeom>
          <a:solidFill>
            <a:srgbClr val="F5F5F5"/>
          </a:solidFill>
          <a:ln>
            <a:noFill/>
          </a:ln>
        </p:spPr>
        <p:txBody>
          <a:bodyPr rtlCol="0" anchor="ctr"/>
          <a:lstStyle/>
          <a:p/>
        </p:txBody>
      </p:sp>
      <p:sp>
        <p:nvSpPr>
          <p:cNvPr id="153" name="TextBox 152"/>
          <p:cNvSpPr txBox="1"/>
          <p:nvPr/>
        </p:nvSpPr>
        <p:spPr>
          <a:xfrm>
            <a:off x="530352"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Identity</a:t>
            </a:r>
          </a:p>
        </p:txBody>
      </p:sp>
      <p:sp>
        <p:nvSpPr>
          <p:cNvPr id="154" name="TextBox 153"/>
          <p:cNvSpPr txBox="1"/>
          <p:nvPr/>
        </p:nvSpPr>
        <p:spPr>
          <a:xfrm>
            <a:off x="530352"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Levels from Entra ID or Okta groups (SAML, SCIM), on top of today's Google sign-in.</a:t>
            </a:r>
          </a:p>
        </p:txBody>
      </p:sp>
      <p:sp>
        <p:nvSpPr>
          <p:cNvPr id="155" name="Policy as code card"/>
          <p:cNvSpPr/>
          <p:nvPr/>
        </p:nvSpPr>
        <p:spPr>
          <a:xfrm>
            <a:off x="3227832" y="1207008"/>
            <a:ext cx="2679192" cy="987552"/>
          </a:xfrm>
          <a:prstGeom prst="roundRect">
            <a:avLst>
              <a:gd name="adj" fmla="val 5555"/>
            </a:avLst>
          </a:prstGeom>
          <a:solidFill>
            <a:srgbClr val="F5F5F5"/>
          </a:solidFill>
          <a:ln>
            <a:noFill/>
          </a:ln>
        </p:spPr>
        <p:txBody>
          <a:bodyPr rtlCol="0" anchor="ctr"/>
          <a:lstStyle/>
          <a:p/>
        </p:txBody>
      </p:sp>
      <p:sp>
        <p:nvSpPr>
          <p:cNvPr id="156" name="TextBox 155"/>
          <p:cNvSpPr txBox="1"/>
          <p:nvPr/>
        </p:nvSpPr>
        <p:spPr>
          <a:xfrm>
            <a:off x="3392424"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Policy as code</a:t>
            </a:r>
          </a:p>
        </p:txBody>
      </p:sp>
      <p:sp>
        <p:nvSpPr>
          <p:cNvPr id="157" name="TextBox 156"/>
          <p:cNvSpPr txBox="1"/>
          <p:nvPr/>
        </p:nvSpPr>
        <p:spPr>
          <a:xfrm>
            <a:off x="3392424"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role.yaml changes go through a pull request, with a preview of who gains or loses what.</a:t>
            </a:r>
          </a:p>
        </p:txBody>
      </p:sp>
      <p:sp>
        <p:nvSpPr>
          <p:cNvPr id="158" name="Data protection card"/>
          <p:cNvSpPr/>
          <p:nvPr/>
        </p:nvSpPr>
        <p:spPr>
          <a:xfrm>
            <a:off x="6089904" y="1207008"/>
            <a:ext cx="2679192" cy="987552"/>
          </a:xfrm>
          <a:prstGeom prst="roundRect">
            <a:avLst>
              <a:gd name="adj" fmla="val 5555"/>
            </a:avLst>
          </a:prstGeom>
          <a:solidFill>
            <a:srgbClr val="F5F5F5"/>
          </a:solidFill>
          <a:ln>
            <a:noFill/>
          </a:ln>
        </p:spPr>
        <p:txBody>
          <a:bodyPr rtlCol="0" anchor="ctr"/>
          <a:lstStyle/>
          <a:p/>
        </p:txBody>
      </p:sp>
      <p:sp>
        <p:nvSpPr>
          <p:cNvPr id="159" name="TextBox 158"/>
          <p:cNvSpPr txBox="1"/>
          <p:nvPr/>
        </p:nvSpPr>
        <p:spPr>
          <a:xfrm>
            <a:off x="6254496"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Data protection</a:t>
            </a:r>
          </a:p>
        </p:txBody>
      </p:sp>
      <p:sp>
        <p:nvSpPr>
          <p:cNvPr id="160" name="TextBox 159"/>
          <p:cNvSpPr txBox="1"/>
          <p:nvPr/>
        </p:nvSpPr>
        <p:spPr>
          <a:xfrm>
            <a:off x="6254496"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Prompt and response scanning with Model Armor before the model.</a:t>
            </a:r>
          </a:p>
        </p:txBody>
      </p:sp>
      <p:sp>
        <p:nvSpPr>
          <p:cNvPr id="161" name="Where people work card"/>
          <p:cNvSpPr/>
          <p:nvPr/>
        </p:nvSpPr>
        <p:spPr>
          <a:xfrm>
            <a:off x="365760" y="2322576"/>
            <a:ext cx="2679192" cy="987552"/>
          </a:xfrm>
          <a:prstGeom prst="roundRect">
            <a:avLst>
              <a:gd name="adj" fmla="val 5555"/>
            </a:avLst>
          </a:prstGeom>
          <a:solidFill>
            <a:srgbClr val="F5F5F5"/>
          </a:solidFill>
          <a:ln>
            <a:noFill/>
          </a:ln>
        </p:spPr>
        <p:txBody>
          <a:bodyPr rtlCol="0" anchor="ctr"/>
          <a:lstStyle/>
          <a:p/>
        </p:txBody>
      </p:sp>
      <p:sp>
        <p:nvSpPr>
          <p:cNvPr id="162" name="TextBox 161"/>
          <p:cNvSpPr txBox="1"/>
          <p:nvPr/>
        </p:nvSpPr>
        <p:spPr>
          <a:xfrm>
            <a:off x="530352"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Where people work</a:t>
            </a:r>
          </a:p>
        </p:txBody>
      </p:sp>
      <p:sp>
        <p:nvSpPr>
          <p:cNvPr id="163" name="TextBox 162"/>
          <p:cNvSpPr txBox="1"/>
          <p:nvPr/>
        </p:nvSpPr>
        <p:spPr>
          <a:xfrm>
            <a:off x="530352"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Ask from Slack and Teams; requests flow into Jira or Linear.</a:t>
            </a:r>
          </a:p>
        </p:txBody>
      </p:sp>
      <p:sp>
        <p:nvSpPr>
          <p:cNvPr id="164" name="Cost per outcome card"/>
          <p:cNvSpPr/>
          <p:nvPr/>
        </p:nvSpPr>
        <p:spPr>
          <a:xfrm>
            <a:off x="3227832" y="2322576"/>
            <a:ext cx="2679192" cy="987552"/>
          </a:xfrm>
          <a:prstGeom prst="roundRect">
            <a:avLst>
              <a:gd name="adj" fmla="val 5555"/>
            </a:avLst>
          </a:prstGeom>
          <a:solidFill>
            <a:srgbClr val="F5F5F5"/>
          </a:solidFill>
          <a:ln>
            <a:noFill/>
          </a:ln>
        </p:spPr>
        <p:txBody>
          <a:bodyPr rtlCol="0" anchor="ctr"/>
          <a:lstStyle/>
          <a:p/>
        </p:txBody>
      </p:sp>
      <p:sp>
        <p:nvSpPr>
          <p:cNvPr id="165" name="TextBox 164"/>
          <p:cNvSpPr txBox="1"/>
          <p:nvPr/>
        </p:nvSpPr>
        <p:spPr>
          <a:xfrm>
            <a:off x="3392424"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Cost per outcome</a:t>
            </a:r>
          </a:p>
        </p:txBody>
      </p:sp>
      <p:sp>
        <p:nvSpPr>
          <p:cNvPr id="166" name="TextBox 165"/>
          <p:cNvSpPr txBox="1"/>
          <p:nvPr/>
        </p:nvSpPr>
        <p:spPr>
          <a:xfrm>
            <a:off x="3392424"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Cost per answered question and per merged PR, next to hours saved.</a:t>
            </a:r>
          </a:p>
        </p:txBody>
      </p:sp>
      <p:sp>
        <p:nvSpPr>
          <p:cNvPr id="167" name="Scale card"/>
          <p:cNvSpPr/>
          <p:nvPr/>
        </p:nvSpPr>
        <p:spPr>
          <a:xfrm>
            <a:off x="6089904" y="2322576"/>
            <a:ext cx="2679192" cy="987552"/>
          </a:xfrm>
          <a:prstGeom prst="roundRect">
            <a:avLst>
              <a:gd name="adj" fmla="val 5555"/>
            </a:avLst>
          </a:prstGeom>
          <a:solidFill>
            <a:srgbClr val="F5F5F5"/>
          </a:solidFill>
          <a:ln>
            <a:noFill/>
          </a:ln>
        </p:spPr>
        <p:txBody>
          <a:bodyPr rtlCol="0" anchor="ctr"/>
          <a:lstStyle/>
          <a:p/>
        </p:txBody>
      </p:sp>
      <p:sp>
        <p:nvSpPr>
          <p:cNvPr id="168" name="TextBox 167"/>
          <p:cNvSpPr txBox="1"/>
          <p:nvPr/>
        </p:nvSpPr>
        <p:spPr>
          <a:xfrm>
            <a:off x="6254496"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Scale</a:t>
            </a:r>
          </a:p>
        </p:txBody>
      </p:sp>
      <p:sp>
        <p:nvSpPr>
          <p:cNvPr id="169" name="TextBox 168"/>
          <p:cNvSpPr txBox="1"/>
          <p:nvPr/>
        </p:nvSpPr>
        <p:spPr>
          <a:xfrm>
            <a:off x="6254496"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Many teams and repos, sessions in Firestore, more instances, a scoped admin key.</a:t>
            </a:r>
          </a:p>
        </p:txBody>
      </p:sp>
      <p:sp>
        <p:nvSpPr>
          <p:cNvPr id="170" name="Positioning"/>
          <p:cNvSpPr/>
          <p:nvPr/>
        </p:nvSpPr>
        <p:spPr>
          <a:xfrm>
            <a:off x="365760" y="3493008"/>
            <a:ext cx="8412480" cy="1097280"/>
          </a:xfrm>
          <a:prstGeom prst="roundRect">
            <a:avLst>
              <a:gd name="adj" fmla="val 5000"/>
            </a:avLst>
          </a:prstGeom>
          <a:solidFill>
            <a:srgbClr val="111111"/>
          </a:solidFill>
          <a:ln>
            <a:noFill/>
          </a:ln>
        </p:spPr>
        <p:txBody>
          <a:bodyPr rtlCol="0" anchor="ctr"/>
          <a:lstStyle/>
          <a:p/>
        </p:txBody>
      </p:sp>
      <p:sp>
        <p:nvSpPr>
          <p:cNvPr id="171" name="TextBox 170"/>
          <p:cNvSpPr txBox="1"/>
          <p:nvPr/>
        </p:nvSpPr>
        <p:spPr>
          <a:xfrm>
            <a:off x="594360" y="3648456"/>
            <a:ext cx="7955279" cy="320040"/>
          </a:xfrm>
          <a:prstGeom prst="rect">
            <a:avLst/>
          </a:prstGeom>
          <a:noFill/>
        </p:spPr>
        <p:txBody>
          <a:bodyPr wrap="square" lIns="0" rIns="0" tIns="0" bIns="0" anchor="t">
            <a:spAutoFit/>
          </a:bodyPr>
          <a:lstStyle/>
          <a:p>
            <a:pPr algn="l">
              <a:spcAft>
                <a:spcPts val="400"/>
              </a:spcAft>
            </a:pPr>
            <a:r>
              <a:rPr sz="1500">
                <a:solidFill>
                  <a:srgbClr val="FFFFFF"/>
                </a:solidFill>
                <a:latin typeface="Google Sans Flex SemiBold"/>
              </a:rPr>
              <a:t>One policy, from a PM's question to a developer's workspace.</a:t>
            </a:r>
          </a:p>
        </p:txBody>
      </p:sp>
      <p:sp>
        <p:nvSpPr>
          <p:cNvPr id="172" name="TextBox 171"/>
          <p:cNvSpPr txBox="1"/>
          <p:nvPr/>
        </p:nvSpPr>
        <p:spPr>
          <a:xfrm>
            <a:off x="594360" y="4023360"/>
            <a:ext cx="7955279" cy="640080"/>
          </a:xfrm>
          <a:prstGeom prst="rect">
            <a:avLst/>
          </a:prstGeom>
          <a:noFill/>
        </p:spPr>
        <p:txBody>
          <a:bodyPr wrap="square" lIns="0" rIns="0" tIns="0" bIns="0" anchor="t">
            <a:spAutoFit/>
          </a:bodyPr>
          <a:lstStyle/>
          <a:p>
            <a:pPr algn="l">
              <a:spcAft>
                <a:spcPts val="400"/>
              </a:spcAft>
            </a:pPr>
            <a:r>
              <a:rPr sz="1050">
                <a:solidFill>
                  <a:srgbClr val="A1A1AA"/>
                </a:solidFill>
                <a:latin typeface="Google Sans Flex"/>
              </a:rPr>
              <a:t>Copilot and Cursor license developer seats; LiteLLM and Portkey cap keys; Agent Gateway governs agents. Each is deeper at its own job. RoleSpace ties them to a person's job, and is built on Google's platform, not against it.</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GitHub Public Repository link"/>
          <p:cNvSpPr/>
          <p:nvPr/>
        </p:nvSpPr>
        <p:spPr>
          <a:xfrm>
            <a:off x="365760" y="1207008"/>
            <a:ext cx="5120640" cy="822960"/>
          </a:xfrm>
          <a:prstGeom prst="roundRect">
            <a:avLst>
              <a:gd name="adj" fmla="val 6666"/>
            </a:avLst>
          </a:prstGeom>
          <a:solidFill>
            <a:srgbClr val="FFFFFF"/>
          </a:solidFill>
          <a:ln w="9525">
            <a:solidFill>
              <a:srgbClr val="E5E7EB"/>
            </a:solidFill>
          </a:ln>
        </p:spPr>
        <p:txBody>
          <a:bodyPr rtlCol="0" anchor="ctr"/>
          <a:lstStyle/>
          <a:p/>
        </p:txBody>
      </p:sp>
      <p:sp>
        <p:nvSpPr>
          <p:cNvPr id="161" name="TextBox 160"/>
          <p:cNvSpPr txBox="1"/>
          <p:nvPr/>
        </p:nvSpPr>
        <p:spPr>
          <a:xfrm>
            <a:off x="566928" y="1335024"/>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GitHub Public Repository</a:t>
            </a:r>
          </a:p>
        </p:txBody>
      </p:sp>
      <p:sp>
        <p:nvSpPr>
          <p:cNvPr id="162" name="GitHub Public Repository to fill"/>
          <p:cNvSpPr/>
          <p:nvPr/>
        </p:nvSpPr>
        <p:spPr>
          <a:xfrm>
            <a:off x="566928" y="1618488"/>
            <a:ext cx="3291840" cy="274320"/>
          </a:xfrm>
          <a:prstGeom prst="roundRect">
            <a:avLst>
              <a:gd name="adj" fmla="val 26666"/>
            </a:avLst>
          </a:prstGeom>
          <a:solidFill>
            <a:srgbClr val="FFFBEB"/>
          </a:solidFill>
          <a:ln w="9525">
            <a:solidFill>
              <a:srgbClr val="FDE68A"/>
            </a:solidFill>
          </a:ln>
        </p:spPr>
        <p:txBody>
          <a:bodyPr rtlCol="0" anchor="ctr"/>
          <a:lstStyle/>
          <a:p/>
        </p:txBody>
      </p:sp>
      <p:sp>
        <p:nvSpPr>
          <p:cNvPr id="163" name="TextBox 162"/>
          <p:cNvSpPr txBox="1"/>
          <p:nvPr/>
        </p:nvSpPr>
        <p:spPr>
          <a:xfrm>
            <a:off x="685800" y="1664208"/>
            <a:ext cx="3108960" cy="201168"/>
          </a:xfrm>
          <a:prstGeom prst="rect">
            <a:avLst/>
          </a:prstGeom>
          <a:noFill/>
        </p:spPr>
        <p:txBody>
          <a:bodyPr wrap="square" lIns="0" rIns="0" tIns="0" bIns="0" anchor="t">
            <a:spAutoFit/>
          </a:bodyPr>
          <a:lstStyle/>
          <a:p>
            <a:pPr algn="l">
              <a:spcAft>
                <a:spcPts val="400"/>
              </a:spcAft>
            </a:pPr>
            <a:r>
              <a:rPr sz="1050">
                <a:solidFill>
                  <a:srgbClr val="B45309"/>
                </a:solidFill>
                <a:latin typeface="Google Sans Flex"/>
              </a:rPr>
              <a:t>Add the repository URL before submitting</a:t>
            </a:r>
          </a:p>
        </p:txBody>
      </p:sp>
      <p:sp>
        <p:nvSpPr>
          <p:cNvPr id="164" name="Demo Video Link (3 Minutes) link"/>
          <p:cNvSpPr/>
          <p:nvPr/>
        </p:nvSpPr>
        <p:spPr>
          <a:xfrm>
            <a:off x="365760" y="2167128"/>
            <a:ext cx="5120640" cy="822960"/>
          </a:xfrm>
          <a:prstGeom prst="roundRect">
            <a:avLst>
              <a:gd name="adj" fmla="val 6666"/>
            </a:avLst>
          </a:prstGeom>
          <a:solidFill>
            <a:srgbClr val="FFFFFF"/>
          </a:solidFill>
          <a:ln w="9525">
            <a:solidFill>
              <a:srgbClr val="E5E7EB"/>
            </a:solidFill>
          </a:ln>
        </p:spPr>
        <p:txBody>
          <a:bodyPr rtlCol="0" anchor="ctr"/>
          <a:lstStyle/>
          <a:p/>
        </p:txBody>
      </p:sp>
      <p:sp>
        <p:nvSpPr>
          <p:cNvPr id="165" name="TextBox 164"/>
          <p:cNvSpPr txBox="1"/>
          <p:nvPr/>
        </p:nvSpPr>
        <p:spPr>
          <a:xfrm>
            <a:off x="566928" y="2295144"/>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Demo Video Link (3 Minutes)</a:t>
            </a:r>
          </a:p>
        </p:txBody>
      </p:sp>
      <p:sp>
        <p:nvSpPr>
          <p:cNvPr id="166" name="Demo Video Link (3 Minutes) to fill"/>
          <p:cNvSpPr/>
          <p:nvPr/>
        </p:nvSpPr>
        <p:spPr>
          <a:xfrm>
            <a:off x="566928" y="2578608"/>
            <a:ext cx="3291840" cy="274320"/>
          </a:xfrm>
          <a:prstGeom prst="roundRect">
            <a:avLst>
              <a:gd name="adj" fmla="val 26666"/>
            </a:avLst>
          </a:prstGeom>
          <a:solidFill>
            <a:srgbClr val="FFFBEB"/>
          </a:solidFill>
          <a:ln w="9525">
            <a:solidFill>
              <a:srgbClr val="FDE68A"/>
            </a:solidFill>
          </a:ln>
        </p:spPr>
        <p:txBody>
          <a:bodyPr rtlCol="0" anchor="ctr"/>
          <a:lstStyle/>
          <a:p/>
        </p:txBody>
      </p:sp>
      <p:sp>
        <p:nvSpPr>
          <p:cNvPr id="167" name="TextBox 166"/>
          <p:cNvSpPr txBox="1"/>
          <p:nvPr/>
        </p:nvSpPr>
        <p:spPr>
          <a:xfrm>
            <a:off x="685800" y="2624328"/>
            <a:ext cx="3108960" cy="201168"/>
          </a:xfrm>
          <a:prstGeom prst="rect">
            <a:avLst/>
          </a:prstGeom>
          <a:noFill/>
        </p:spPr>
        <p:txBody>
          <a:bodyPr wrap="square" lIns="0" rIns="0" tIns="0" bIns="0" anchor="t">
            <a:spAutoFit/>
          </a:bodyPr>
          <a:lstStyle/>
          <a:p>
            <a:pPr algn="l">
              <a:spcAft>
                <a:spcPts val="400"/>
              </a:spcAft>
            </a:pPr>
            <a:r>
              <a:rPr sz="1050">
                <a:solidFill>
                  <a:srgbClr val="B45309"/>
                </a:solidFill>
                <a:latin typeface="Google Sans Flex"/>
              </a:rPr>
              <a:t>Add the public video URL before submitting</a:t>
            </a:r>
          </a:p>
        </p:txBody>
      </p:sp>
      <p:sp>
        <p:nvSpPr>
          <p:cNvPr id="168" name="Final Product Link link"/>
          <p:cNvSpPr/>
          <p:nvPr/>
        </p:nvSpPr>
        <p:spPr>
          <a:xfrm>
            <a:off x="365760" y="3127248"/>
            <a:ext cx="5120640" cy="822960"/>
          </a:xfrm>
          <a:prstGeom prst="roundRect">
            <a:avLst>
              <a:gd name="adj" fmla="val 6666"/>
            </a:avLst>
          </a:prstGeom>
          <a:solidFill>
            <a:srgbClr val="FFFFFF"/>
          </a:solidFill>
          <a:ln w="9525">
            <a:solidFill>
              <a:srgbClr val="E5E7EB"/>
            </a:solidFill>
          </a:ln>
        </p:spPr>
        <p:txBody>
          <a:bodyPr rtlCol="0" anchor="ctr"/>
          <a:lstStyle/>
          <a:p/>
        </p:txBody>
      </p:sp>
      <p:sp>
        <p:nvSpPr>
          <p:cNvPr id="169" name="TextBox 168"/>
          <p:cNvSpPr txBox="1"/>
          <p:nvPr/>
        </p:nvSpPr>
        <p:spPr>
          <a:xfrm>
            <a:off x="566928" y="3255264"/>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Final Product Link</a:t>
            </a:r>
          </a:p>
        </p:txBody>
      </p:sp>
      <p:sp>
        <p:nvSpPr>
          <p:cNvPr id="170" name="TextBox 169"/>
          <p:cNvSpPr txBox="1"/>
          <p:nvPr/>
        </p:nvSpPr>
        <p:spPr>
          <a:xfrm>
            <a:off x="566928" y="3538728"/>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5"/>
              </a:rPr>
              <a:t>https://rolespace.duckdns.org</a:t>
            </a:r>
            <a:r>
              <a:rPr sz="1000">
                <a:solidFill>
                  <a:srgbClr val="6B7280"/>
                </a:solidFill>
                <a:latin typeface="Google Sans Flex"/>
              </a:rPr>
              <a:t>   Sign in with Google, then pick a persona</a:t>
            </a:r>
          </a:p>
        </p:txBody>
      </p:sp>
      <p:sp>
        <p:nvSpPr>
          <p:cNvPr id="171" name="Try it"/>
          <p:cNvSpPr/>
          <p:nvPr/>
        </p:nvSpPr>
        <p:spPr>
          <a:xfrm>
            <a:off x="5715000" y="1207008"/>
            <a:ext cx="3063240" cy="2194560"/>
          </a:xfrm>
          <a:prstGeom prst="roundRect">
            <a:avLst>
              <a:gd name="adj" fmla="val 2500"/>
            </a:avLst>
          </a:prstGeom>
          <a:solidFill>
            <a:srgbClr val="F5F5F5"/>
          </a:solidFill>
          <a:ln>
            <a:noFill/>
          </a:ln>
        </p:spPr>
        <p:txBody>
          <a:bodyPr rtlCol="0" anchor="ctr"/>
          <a:lstStyle/>
          <a:p/>
        </p:txBody>
      </p:sp>
      <p:sp>
        <p:nvSpPr>
          <p:cNvPr id="172" name="TextBox 171"/>
          <p:cNvSpPr txBox="1"/>
          <p:nvPr/>
        </p:nvSpPr>
        <p:spPr>
          <a:xfrm>
            <a:off x="5897880" y="1371600"/>
            <a:ext cx="2743200" cy="274320"/>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Try it in two minutes</a:t>
            </a:r>
          </a:p>
        </p:txBody>
      </p:sp>
      <p:sp>
        <p:nvSpPr>
          <p:cNvPr id="173" name="TextBox 172"/>
          <p:cNvSpPr txBox="1"/>
          <p:nvPr/>
        </p:nvSpPr>
        <p:spPr>
          <a:xfrm>
            <a:off x="5897880" y="1709928"/>
            <a:ext cx="2743200" cy="2194560"/>
          </a:xfrm>
          <a:prstGeom prst="rect">
            <a:avLst/>
          </a:prstGeom>
          <a:noFill/>
        </p:spPr>
        <p:txBody>
          <a:bodyPr wrap="square" lIns="0" rIns="0" tIns="0" bIns="0" anchor="t">
            <a:spAutoFit/>
          </a:bodyPr>
          <a:lstStyle/>
          <a:p>
            <a:pPr algn="l" marL="146304" indent="-146304">
              <a:spcAft>
                <a:spcPts val="600"/>
              </a:spcAft>
              <a:buChar char="•"/>
            </a:pPr>
            <a:r>
              <a:rPr sz="1050">
                <a:solidFill>
                  <a:srgbClr val="374151"/>
                </a:solidFill>
                <a:latin typeface="Google Sans Flex"/>
              </a:rPr>
              <a:t/>
            </a:r>
            <a:r>
              <a:rPr sz="1050">
                <a:solidFill>
                  <a:srgbClr val="111111"/>
                </a:solidFill>
                <a:latin typeface="Google Sans Flex SemiBold"/>
              </a:rPr>
              <a:t>Maya (PM): </a:t>
            </a:r>
            <a:r>
              <a:rPr sz="1050">
                <a:solidFill>
                  <a:srgbClr val="374151"/>
                </a:solidFill>
                <a:latin typeface="Google Sans Flex"/>
              </a:rPr>
              <a:t>ask how a score is calculated, then ask to change it.</a:t>
            </a:r>
          </a:p>
          <a:p>
            <a:pPr marL="146304" indent="-146304">
              <a:spcAft>
                <a:spcPts val="600"/>
              </a:spcAft>
              <a:buChar char="•"/>
            </a:pPr>
            <a:r>
              <a:rPr sz="1050">
                <a:solidFill>
                  <a:srgbClr val="111111"/>
                </a:solidFill>
                <a:latin typeface="Google Sans Flex SemiBold"/>
              </a:rPr>
              <a:t>Leo (designer): </a:t>
            </a:r>
            <a:r>
              <a:rPr sz="1050">
                <a:solidFill>
                  <a:srgbClr val="374151"/>
                </a:solidFill>
                <a:latin typeface="Google Sans Flex"/>
              </a:rPr>
              <a:t>change the Begin button colour; then try lib/score.mjs.</a:t>
            </a:r>
          </a:p>
          <a:p>
            <a:pPr marL="146304" indent="-146304">
              <a:spcAft>
                <a:spcPts val="600"/>
              </a:spcAft>
              <a:buChar char="•"/>
            </a:pPr>
            <a:r>
              <a:rPr sz="1050">
                <a:solidFill>
                  <a:srgbClr val="111111"/>
                </a:solidFill>
                <a:latin typeface="Google Sans Flex SemiBold"/>
              </a:rPr>
              <a:t>Ava (admin): </a:t>
            </a:r>
            <a:r>
              <a:rPr sz="1050">
                <a:solidFill>
                  <a:srgbClr val="374151"/>
                </a:solidFill>
                <a:latin typeface="Google Sans Flex"/>
              </a:rPr>
              <a:t>Overview, People &amp; access, Policy, Audit log, Architecture.</a:t>
            </a:r>
          </a:p>
          <a:p>
            <a:pPr marL="146304" indent="-146304">
              <a:spcAft>
                <a:spcPts val="600"/>
              </a:spcAft>
              <a:buChar char="•"/>
            </a:pPr>
            <a:r>
              <a:rPr sz="1050">
                <a:solidFill>
                  <a:srgbClr val="374151"/>
                </a:solidFill>
                <a:latin typeface="Google Sans Flex"/>
              </a:rPr>
              <a:t>Admin changes need a passcode, shared with judges on request.</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